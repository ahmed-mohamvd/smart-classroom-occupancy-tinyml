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e556c0efed430f" /><Relationship Type="http://schemas.openxmlformats.org/officeDocument/2006/relationships/extended-properties" Target="/docProps/app.xml" Id="R7594bc43de5842e7" /><Relationship Type="http://schemas.openxmlformats.org/officeDocument/2006/relationships/officeDocument" Target="/ppt/presentation.xml" Id="Rb91f4957243b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627da2946849bf"/>
  </p:sldMasterIdLst>
  <p:notesMasterIdLst>
    <p:notesMasterId xmlns:r="http://schemas.openxmlformats.org/officeDocument/2006/relationships" r:id="Rf8d3382b9f5d48d8"/>
  </p:notesMasterIdLst>
  <p:sldIdLst>
    <p:sldId xmlns:r="http://schemas.openxmlformats.org/officeDocument/2006/relationships" id="256" r:id="R33cef16dbff2448d"/>
    <p:sldId xmlns:r="http://schemas.openxmlformats.org/officeDocument/2006/relationships" id="257" r:id="R855013194a6d4789"/>
    <p:sldId xmlns:r="http://schemas.openxmlformats.org/officeDocument/2006/relationships" id="258" r:id="R4fd5f94500884320"/>
    <p:sldId xmlns:r="http://schemas.openxmlformats.org/officeDocument/2006/relationships" id="259" r:id="R19ce10e9ec3c4d21"/>
    <p:sldId xmlns:r="http://schemas.openxmlformats.org/officeDocument/2006/relationships" id="260" r:id="R783d46c36326435d"/>
    <p:sldId xmlns:r="http://schemas.openxmlformats.org/officeDocument/2006/relationships" id="261" r:id="Rfa5afd4f0a1f48db"/>
    <p:sldId xmlns:r="http://schemas.openxmlformats.org/officeDocument/2006/relationships" id="262" r:id="R4a9d81e353f145b1"/>
    <p:sldId xmlns:r="http://schemas.openxmlformats.org/officeDocument/2006/relationships" id="263" r:id="R62148de12eb0456e"/>
    <p:sldId xmlns:r="http://schemas.openxmlformats.org/officeDocument/2006/relationships" id="264" r:id="Re60fbf47851a4cdf"/>
    <p:sldId xmlns:r="http://schemas.openxmlformats.org/officeDocument/2006/relationships" id="265" r:id="R4338831713c24adf"/>
    <p:sldId xmlns:r="http://schemas.openxmlformats.org/officeDocument/2006/relationships" id="266" r:id="Re3ee0b407cec40ad"/>
    <p:sldId xmlns:r="http://schemas.openxmlformats.org/officeDocument/2006/relationships" id="267" r:id="Redf049c08f1648bb"/>
    <p:sldId xmlns:r="http://schemas.openxmlformats.org/officeDocument/2006/relationships" id="268" r:id="Rb0c54899fe2f4813"/>
    <p:sldId xmlns:r="http://schemas.openxmlformats.org/officeDocument/2006/relationships" id="269" r:id="R274220924125490a"/>
    <p:sldId xmlns:r="http://schemas.openxmlformats.org/officeDocument/2006/relationships" id="270" r:id="R0b24842dc30d47c8"/>
    <p:sldId xmlns:r="http://schemas.openxmlformats.org/officeDocument/2006/relationships" id="271" r:id="R391af19b963f4654"/>
    <p:sldId xmlns:r="http://schemas.openxmlformats.org/officeDocument/2006/relationships" id="272" r:id="Rab85373124fc472a"/>
    <p:sldId xmlns:r="http://schemas.openxmlformats.org/officeDocument/2006/relationships" id="273" r:id="Rb915f9f901e644ea"/>
    <p:sldId xmlns:r="http://schemas.openxmlformats.org/officeDocument/2006/relationships" id="274" r:id="R33357c5938fa4504"/>
    <p:sldId xmlns:r="http://schemas.openxmlformats.org/officeDocument/2006/relationships" id="275" r:id="R2d18818639e94ced"/>
    <p:sldId xmlns:r="http://schemas.openxmlformats.org/officeDocument/2006/relationships" id="276" r:id="Rd77654db97f34feb"/>
    <p:sldId xmlns:r="http://schemas.openxmlformats.org/officeDocument/2006/relationships" id="277" r:id="R8b575b47c5e84f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dba3df4f64785" /><Relationship Type="http://schemas.openxmlformats.org/officeDocument/2006/relationships/slideMaster" Target="/ppt/slideMasters/slideMaster1.xml" Id="Re1627da2946849bf" /><Relationship Type="http://schemas.openxmlformats.org/officeDocument/2006/relationships/notesMaster" Target="/ppt/notesMasters/notesMaster1.xml" Id="Rf8d3382b9f5d48d8" /><Relationship Type="http://schemas.openxmlformats.org/officeDocument/2006/relationships/presProps" Target="/ppt/presProps.xml" Id="R71755da21b2b44b0" /><Relationship Type="http://schemas.openxmlformats.org/officeDocument/2006/relationships/tableStyles" Target="/ppt/tableStyles.xml" Id="R9cbca93fabd145a4" /><Relationship Type="http://schemas.openxmlformats.org/officeDocument/2006/relationships/slide" Target="/ppt/slides/slide1.xml" Id="R33cef16dbff2448d" /><Relationship Type="http://schemas.openxmlformats.org/officeDocument/2006/relationships/slide" Target="/ppt/slides/slide2.xml" Id="R855013194a6d4789" /><Relationship Type="http://schemas.openxmlformats.org/officeDocument/2006/relationships/slide" Target="/ppt/slides/slide3.xml" Id="R4fd5f94500884320" /><Relationship Type="http://schemas.openxmlformats.org/officeDocument/2006/relationships/slide" Target="/ppt/slides/slide4.xml" Id="R19ce10e9ec3c4d21" /><Relationship Type="http://schemas.openxmlformats.org/officeDocument/2006/relationships/slide" Target="/ppt/slides/slide5.xml" Id="R783d46c36326435d" /><Relationship Type="http://schemas.openxmlformats.org/officeDocument/2006/relationships/slide" Target="/ppt/slides/slide6.xml" Id="Rfa5afd4f0a1f48db" /><Relationship Type="http://schemas.openxmlformats.org/officeDocument/2006/relationships/slide" Target="/ppt/slides/slide7.xml" Id="R4a9d81e353f145b1" /><Relationship Type="http://schemas.openxmlformats.org/officeDocument/2006/relationships/slide" Target="/ppt/slides/slide8.xml" Id="R62148de12eb0456e" /><Relationship Type="http://schemas.openxmlformats.org/officeDocument/2006/relationships/slide" Target="/ppt/slides/slide9.xml" Id="Re60fbf47851a4cdf" /><Relationship Type="http://schemas.openxmlformats.org/officeDocument/2006/relationships/slide" Target="/ppt/slides/slide10.xml" Id="R4338831713c24adf" /><Relationship Type="http://schemas.openxmlformats.org/officeDocument/2006/relationships/slide" Target="/ppt/slides/slide11.xml" Id="Re3ee0b407cec40ad" /><Relationship Type="http://schemas.openxmlformats.org/officeDocument/2006/relationships/slide" Target="/ppt/slides/slide12.xml" Id="Redf049c08f1648bb" /><Relationship Type="http://schemas.openxmlformats.org/officeDocument/2006/relationships/slide" Target="/ppt/slides/slide13.xml" Id="Rb0c54899fe2f4813" /><Relationship Type="http://schemas.openxmlformats.org/officeDocument/2006/relationships/slide" Target="/ppt/slides/slide14.xml" Id="R274220924125490a" /><Relationship Type="http://schemas.openxmlformats.org/officeDocument/2006/relationships/slide" Target="/ppt/slides/slide15.xml" Id="R0b24842dc30d47c8" /><Relationship Type="http://schemas.openxmlformats.org/officeDocument/2006/relationships/slide" Target="/ppt/slides/slide16.xml" Id="R391af19b963f4654" /><Relationship Type="http://schemas.openxmlformats.org/officeDocument/2006/relationships/slide" Target="/ppt/slides/slide17.xml" Id="Rab85373124fc472a" /><Relationship Type="http://schemas.openxmlformats.org/officeDocument/2006/relationships/slide" Target="/ppt/slides/slide18.xml" Id="Rb915f9f901e644ea" /><Relationship Type="http://schemas.openxmlformats.org/officeDocument/2006/relationships/slide" Target="/ppt/slides/slide19.xml" Id="R33357c5938fa4504" /><Relationship Type="http://schemas.openxmlformats.org/officeDocument/2006/relationships/slide" Target="/ppt/slides/slide20.xml" Id="R2d18818639e94ced" /><Relationship Type="http://schemas.openxmlformats.org/officeDocument/2006/relationships/slide" Target="/ppt/slides/slide21.xml" Id="Rd77654db97f34feb" /><Relationship Type="http://schemas.openxmlformats.org/officeDocument/2006/relationships/slide" Target="/ppt/slides/slide22.xml" Id="R8b575b47c5e84f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6ec612736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00cf57f1f4520" /><Relationship Type="http://schemas.openxmlformats.org/officeDocument/2006/relationships/notesMaster" Target="/ppt/notesMasters/notesMaster1.xml" Id="Re24f6196f8a64b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b2e7e019904979" /><Relationship Type="http://schemas.openxmlformats.org/officeDocument/2006/relationships/notesMaster" Target="/ppt/notesMasters/notesMaster1.xml" Id="R55ca71c1c04f43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607c4752e64d8a" /><Relationship Type="http://schemas.openxmlformats.org/officeDocument/2006/relationships/notesMaster" Target="/ppt/notesMasters/notesMaster1.xml" Id="R9803d82068404d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0784cbb6d748b7" /><Relationship Type="http://schemas.openxmlformats.org/officeDocument/2006/relationships/notesMaster" Target="/ppt/notesMasters/notesMaster1.xml" Id="Rf9865d8010b548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4987334003454c" /><Relationship Type="http://schemas.openxmlformats.org/officeDocument/2006/relationships/notesMaster" Target="/ppt/notesMasters/notesMaster1.xml" Id="R74d8c476083e4c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275dfe9d2d4fd7" /><Relationship Type="http://schemas.openxmlformats.org/officeDocument/2006/relationships/notesMaster" Target="/ppt/notesMasters/notesMaster1.xml" Id="Rc71970ecb9fa4b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1946e4c1634e37" /><Relationship Type="http://schemas.openxmlformats.org/officeDocument/2006/relationships/notesMaster" Target="/ppt/notesMasters/notesMaster1.xml" Id="R6206689ab84149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0174388fc4d74" /><Relationship Type="http://schemas.openxmlformats.org/officeDocument/2006/relationships/notesMaster" Target="/ppt/notesMasters/notesMaster1.xml" Id="Rc6ad33ef44ab41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23daa0dd444f41" /><Relationship Type="http://schemas.openxmlformats.org/officeDocument/2006/relationships/notesMaster" Target="/ppt/notesMasters/notesMaster1.xml" Id="R0b1987cd2ee04c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2c1109413474a" /><Relationship Type="http://schemas.openxmlformats.org/officeDocument/2006/relationships/notesMaster" Target="/ppt/notesMasters/notesMaster1.xml" Id="R89337de7428e4a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6b917e61ca4bcc" /><Relationship Type="http://schemas.openxmlformats.org/officeDocument/2006/relationships/notesMaster" Target="/ppt/notesMasters/notesMaster1.xml" Id="R2388d8aff3b24c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7f40571b604815" /><Relationship Type="http://schemas.openxmlformats.org/officeDocument/2006/relationships/notesMaster" Target="/ppt/notesMasters/notesMaster1.xml" Id="R94c25ed3def345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6baf2d9ecf4849" /><Relationship Type="http://schemas.openxmlformats.org/officeDocument/2006/relationships/notesMaster" Target="/ppt/notesMasters/notesMaster1.xml" Id="Re1258d08e8494f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f53704f42f4b6d" /><Relationship Type="http://schemas.openxmlformats.org/officeDocument/2006/relationships/notesMaster" Target="/ppt/notesMasters/notesMaster1.xml" Id="Rf0a5742934e245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5b6b9e09ba47ba" /><Relationship Type="http://schemas.openxmlformats.org/officeDocument/2006/relationships/notesMaster" Target="/ppt/notesMasters/notesMaster1.xml" Id="Rb9a1e088eb4548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923c3c47d44619" /><Relationship Type="http://schemas.openxmlformats.org/officeDocument/2006/relationships/notesMaster" Target="/ppt/notesMasters/notesMaster1.xml" Id="R2871f075e0bc4b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edb7e68a6b47d8" /><Relationship Type="http://schemas.openxmlformats.org/officeDocument/2006/relationships/notesMaster" Target="/ppt/notesMasters/notesMaster1.xml" Id="R912924c15d1d4b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0606e640db44a9" /><Relationship Type="http://schemas.openxmlformats.org/officeDocument/2006/relationships/notesMaster" Target="/ppt/notesMasters/notesMaster1.xml" Id="R9ece0767c0c04b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2cb09be0604fb0" /><Relationship Type="http://schemas.openxmlformats.org/officeDocument/2006/relationships/notesMaster" Target="/ppt/notesMasters/notesMaster1.xml" Id="R43142856fb4745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8f1af0cd7894bdd" /><Relationship Type="http://schemas.openxmlformats.org/officeDocument/2006/relationships/notesMaster" Target="/ppt/notesMasters/notesMaster1.xml" Id="Rfe12a67bb38f40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207bedd2044b70" /><Relationship Type="http://schemas.openxmlformats.org/officeDocument/2006/relationships/notesMaster" Target="/ppt/notesMasters/notesMaster1.xml" Id="R981f03147a0248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71a95cb8f44dc7" /><Relationship Type="http://schemas.openxmlformats.org/officeDocument/2006/relationships/notesMaster" Target="/ppt/notesMasters/notesMaster1.xml" Id="Rd26a8f81dca04a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project in one sentence. This presentation takes about ten minutes, followed by a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audience a map before technical details. State that the presentation is ten minutes and the live demo follows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project goal. Do not claim that the system controls the classroom automatically; it provides occupancy estimates and warnings.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full embedded-AI workflow and clarify the safe low-voltage scope. This matches the official project guideline.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signal path: sensors feed the STM32, which displays results, logs labelled records and issues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real prototype. Point out the two PIR positions and the modules on the front/top of the enclosure.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the committee see that you used more than an AI model: it is a complete embedded-system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labels were selected before recording. The PC was used only to log the data; the final model later runs on the STM32.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removing transition rows matters. Emphasise that train, validation and test are separated by recording, not random individual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30-sample window and the five-sample update. Explain that this makes PIR measurements more useful for occupancy estimation.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six features clearly. This slide is important because it explains exactly what the AI receives.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normalisation in plain language: it places each input on a comparable scale. Then explain that INT8 makes the embedded model very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model at a high level. ReLU is the activation used in the hidden layers. Softmax converts the final values into three class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dataset splits. Then explain the 49 epochs: 300 was only the maximum; early stopping ended training when validation loss stopped improving.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accuracy and explain the practical interpretation. Be transparent: HIGH has more room for improvement, so the project includes a clear next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training happens on the computer, while inference happens on the microcontroller. Mention the generated C files are integrated into the CubeIDE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right. This is the key code slide: it shows that this is an embedded application, not a model running only in a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before the demo. Explain the AI class output and the energy warning without promising automatic switching of room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part of the neural network. Explain that it is a rule-based layer that uses the AI result and the measured room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confident here: recognising a limitation is an engineering result. Explain why VL53L0X was not forced into the current AI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your future vision. Do not say PIR 3 is already part of the validated result. It is the next engineering iteration.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presentation. Transition immediately to the five-minute live demo: boot scan, occupancy result, then energy-warning behaviour.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ea9a6886d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97ed450ed45fa" /><Relationship Type="http://schemas.openxmlformats.org/officeDocument/2006/relationships/slideLayout" Target="/ppt/slideLayouts/slideLayout1.xml" Id="Rb2e5908b1d72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e5908b1d72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5fad179ef44f7" /><Relationship Type="http://schemas.openxmlformats.org/officeDocument/2006/relationships/image" Target="/ppt/media/image.png" Id="R3238e337217b4d19" /><Relationship Type="http://schemas.openxmlformats.org/officeDocument/2006/relationships/notesSlide" Target="/ppt/notesSlides/notesSlide1.xml" Id="R432e4eef91c2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879f1c44e4162" /><Relationship Type="http://schemas.openxmlformats.org/officeDocument/2006/relationships/notesSlide" Target="/ppt/notesSlides/notesSlide2.xml" Id="R1ecc3fa9fa6c4d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77b5fc8c1441e" /><Relationship Type="http://schemas.openxmlformats.org/officeDocument/2006/relationships/notesSlide" Target="/ppt/notesSlides/notesSlide3.xml" Id="Rfcffc8481afd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ed02b5dc41f1" /><Relationship Type="http://schemas.openxmlformats.org/officeDocument/2006/relationships/notesSlide" Target="/ppt/notesSlides/notesSlide4.xml" Id="R4f963beb03bd45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11dec0e0e4894" /><Relationship Type="http://schemas.openxmlformats.org/officeDocument/2006/relationships/notesSlide" Target="/ppt/notesSlides/notesSlide5.xml" Id="R20a37c422043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943d5143a4533" /><Relationship Type="http://schemas.openxmlformats.org/officeDocument/2006/relationships/image" Target="/ppt/media/image2.png" Id="Rbba6c0a3f61f4238" /><Relationship Type="http://schemas.openxmlformats.org/officeDocument/2006/relationships/notesSlide" Target="/ppt/notesSlides/notesSlide6.xml" Id="R946d4a3078804a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53c6f6b4a40e8" /><Relationship Type="http://schemas.openxmlformats.org/officeDocument/2006/relationships/notesSlide" Target="/ppt/notesSlides/notesSlide7.xml" Id="R70964ee0223844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2ac09cd2b41c8" /><Relationship Type="http://schemas.openxmlformats.org/officeDocument/2006/relationships/image" Target="/ppt/media/image3.png" Id="R33659e404ca04ccb" /><Relationship Type="http://schemas.openxmlformats.org/officeDocument/2006/relationships/notesSlide" Target="/ppt/notesSlides/notesSlide8.xml" Id="R4cdf60c899874a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a4b1f126049f9" /><Relationship Type="http://schemas.openxmlformats.org/officeDocument/2006/relationships/notesSlide" Target="/ppt/notesSlides/notesSlide9.xml" Id="Raecc62195a0e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20201de624823" /><Relationship Type="http://schemas.openxmlformats.org/officeDocument/2006/relationships/notesSlide" Target="/ppt/notesSlides/notesSlide10.xml" Id="Rf5d6925e4abc47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46a135ced4344" /><Relationship Type="http://schemas.openxmlformats.org/officeDocument/2006/relationships/notesSlide" Target="/ppt/notesSlides/notesSlide11.xml" Id="R9ce5269898b24c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3dc04e47440ee" /><Relationship Type="http://schemas.openxmlformats.org/officeDocument/2006/relationships/notesSlide" Target="/ppt/notesSlides/notesSlide12.xml" Id="R68abf781849e40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045aa9ef94e5b" /><Relationship Type="http://schemas.openxmlformats.org/officeDocument/2006/relationships/notesSlide" Target="/ppt/notesSlides/notesSlide13.xml" Id="R79633558781840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ed5f703d64613" /><Relationship Type="http://schemas.openxmlformats.org/officeDocument/2006/relationships/notesSlide" Target="/ppt/notesSlides/notesSlide14.xml" Id="Rb448bd5d1cd54b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614ce7e12428a" /><Relationship Type="http://schemas.openxmlformats.org/officeDocument/2006/relationships/image" Target="/ppt/media/image4.png" Id="Rda6776ee53b54b89" /><Relationship Type="http://schemas.openxmlformats.org/officeDocument/2006/relationships/image" Target="/ppt/media/image5.png" Id="Rff3b0d8341f14bd6" /><Relationship Type="http://schemas.openxmlformats.org/officeDocument/2006/relationships/notesSlide" Target="/ppt/notesSlides/notesSlide15.xml" Id="Re133a0c9fca449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77df66ba74bf3" /><Relationship Type="http://schemas.openxmlformats.org/officeDocument/2006/relationships/image" Target="/ppt/media/image6.png" Id="Rebc56a6947d844e1" /><Relationship Type="http://schemas.openxmlformats.org/officeDocument/2006/relationships/notesSlide" Target="/ppt/notesSlides/notesSlide16.xml" Id="R6c5eee42611347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dad0696374725" /><Relationship Type="http://schemas.openxmlformats.org/officeDocument/2006/relationships/notesSlide" Target="/ppt/notesSlides/notesSlide17.xml" Id="Rb3abfa6f0b9041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929f651fa4007" /><Relationship Type="http://schemas.openxmlformats.org/officeDocument/2006/relationships/image" Target="/ppt/media/image7.png" Id="R444b3efa87e34345" /><Relationship Type="http://schemas.openxmlformats.org/officeDocument/2006/relationships/notesSlide" Target="/ppt/notesSlides/notesSlide18.xml" Id="R70434934131b4c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4be1d87894f6a" /><Relationship Type="http://schemas.openxmlformats.org/officeDocument/2006/relationships/notesSlide" Target="/ppt/notesSlides/notesSlide19.xml" Id="Rb71a892f77cb4d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48b270414f87" /><Relationship Type="http://schemas.openxmlformats.org/officeDocument/2006/relationships/image" Target="/ppt/media/image8.png" Id="Rb215690101684ce3" /><Relationship Type="http://schemas.openxmlformats.org/officeDocument/2006/relationships/notesSlide" Target="/ppt/notesSlides/notesSlide20.xml" Id="R8e0970c1f5e745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6677b7e4644d4" /><Relationship Type="http://schemas.openxmlformats.org/officeDocument/2006/relationships/notesSlide" Target="/ppt/notesSlides/notesSlide21.xml" Id="R2a188b0130ef433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f3d47c8344813" /><Relationship Type="http://schemas.openxmlformats.org/officeDocument/2006/relationships/notesSlide" Target="/ppt/notesSlides/notesSlide22.xml" Id="R39fc8fbab07b47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8e337217b4d19"/>
          <a:srcRect xmlns:a="http://schemas.openxmlformats.org/drawingml/2006/main" l="20104" t="0" r="201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0"/>
            <a:ext cx="5467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11FF3-1B3F-4C97-8D45-8BE364E1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91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29A8E-381E-49BF-8D91-2E61079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B858D-D6F0-474D-B553-7A55D861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CLASSROOM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OCCUPANCY AND</a:t>
            </a:r>
          </a:p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0F536-E17F-468B-888B-97EB85B1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DE4E6"/>
                </a:solidFill>
                <a:latin typeface="Arial"/>
                <a:ea typeface="Arial"/>
                <a:cs typeface="Arial"/>
              </a:rPr>
              <a:t>TinyML occupancy classification on STM32 NUCLEO-L476RG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ABC33-87F7-487A-8572-984E436B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Ahmed Mohamed Abdalla Ahmed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A24KE0429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71050-E743-4DE5-9D06-2D4F0968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245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C6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8C6CC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92091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315C3-B907-4A51-8C16-2A3B8481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B8108-AE58-4532-82C5-42C7FDF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Presentation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7088C-DD73-4AB4-8E55-276135F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016F3-11AD-4568-83F2-1B4CEEA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CCFBB-AE65-44BE-8122-34E0CCB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This presentation follows the complete engineering path from the original problem to a working TinyML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5DA76-8AFD-4744-94A8-4AE1AE53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800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F57E1-7C97-4911-8738-5B02AAE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68E66-872B-4C0B-9169-47EE24A9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336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Context and 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0781D-A14D-45B0-8FB9-67032662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003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Why classroom occupancy information can support energy-aware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AA1C-BBD0-4E48-9ABA-F2BA746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800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4A943-5EBC-4D27-87D3-2A6E77E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DF72D-C846-4E22-81A7-B9F04B57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Hardware and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DD241-8BF0-4DC7-854F-510252E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242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How the STM32 prototype collects labelled sensor records.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7FAE1-8D47-4C6A-991F-FF3E7DF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800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76CAB-8181-46C1-B95C-C89C53D5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12140-7339-44A4-8DA2-5502CA8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814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AI methodology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1F4E7-BFBD-4F95-9611-8A7FF3E4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Features, normalisation, TensorFlow training and evaluation.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81C7D-15BA-4CA2-9050-509C5C1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800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5E602-954C-413E-9258-4199592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DC8DC-A1B9-4090-8081-C07FED96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053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Embedded 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C2A91-B47A-4ED0-801A-674BE1CB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720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How the model runs on the STM32 with local feedback.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C70842-3AFE-4CA0-BB89-E2609A3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800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CA1D0-F7E5-45CC-BD84-C6992C2B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E07F7-D706-4437-BAF0-FF1D063F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2920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Evaluation and future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0E3F8-833C-484C-954F-2CD408D1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959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Current results, limitations, improvement plan and live demo.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4BEC0-9DD7-4368-BA90-0019288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Ten-minute presentation followed by a five-minute live demonstration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FCBEF-CC3D-4983-8B59-C72C69A7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67729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7B1AF-CF40-47C2-9FE6-EB36821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CCD93-5CDB-45E1-8123-1CA2F4F3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Why This Project?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2FECA-EDB8-4011-9BC3-4EB93906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9575D-2D34-4AE3-A372-44EC57B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8E13-E1B3-4ED2-BF45-9C374DAD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A classroom needs a simple way to estimate occupancy and highlight avoidable energy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64E30-84F5-4A20-B6E0-CB3E7CB1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5905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72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43A"/>
                </a:solidFill>
                <a:latin typeface="Arial"/>
                <a:ea typeface="Arial"/>
                <a:cs typeface="Arial"/>
              </a:rPr>
              <a:t>Occupancy affects how lighting and cooling are used, yet direct people counting is not required for a first energy-aware prototype.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72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system estimates three practical room states: EMPTY, LOW and HIGH occupancy.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72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classifier must run on an STM32 microcontroller, rather than depend on a laptop or cloud connection.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72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final prototype provides a local warning when an apparently empty room still has avoidable energy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4F524-21AF-441A-919E-3A96148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57325"/>
            <a:ext cx="30861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B3251-136B-4F6F-B2C7-8F93BA3B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106D9-560B-4060-AA58-76EF98F1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2419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Occupancy class</a:t>
            </a:r>
          </a:p>
          <a:p xmlns:a="http://schemas.openxmlformats.org/drawingml/2006/main">
            <a:pPr algn="ctr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Energy alert</a:t>
            </a:r>
          </a:p>
          <a:p xmlns:a="http://schemas.openxmlformats.org/drawingml/2006/main">
            <a:pPr algn="ctr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Local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32BD5-A0A6-48FA-BF9C-DC6BC12A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291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The goal combines occupancy estimation with practical energy awareness.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7651D-5CEF-4FEA-A350-C512C626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Problem statement: occupancy estimation can support energy-aware classroom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B4596-ACA5-4C75-B8AB-EFFCAF2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977001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3BFF6-6CEE-444D-9809-D714EC0A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2D9B3-8D1F-426D-9DEF-16A262AA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Project Scope and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B26C7-6B37-40D8-AE15-7109936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904FB-4775-49A0-8DBC-3839CE24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D1180-B7F2-45FA-9E8C-BE66CA1D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internship brief required an end-to-end embedded AI prototype: sensing, data, training, deployment and real-time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8694-BB4B-4345-94EC-5DB62CB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6572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Interface multiple low-cost sensors with the NUCLEO-L476RG and verify them individually.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Collect labelled EMPTY, LOW and HIGH classroom recordings under different light and air-conditioning conditions.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Prepare window-based features and train a small neural-network classifier.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Convert the trained model into an embedded INT8 network using STM32Cube.AI.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Display the estimated occupancy state locally and connect it to energy-aware warning rules.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73D07-30FE-4581-8081-FC89EFC2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2762250" cy="300037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310021-04DC-49C6-A43B-16643CFD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955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Important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2993E-3574-4ED9-8F24-A632ABD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90825"/>
            <a:ext cx="2238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This is a safe low-voltage smart-building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It provides a decision-support indication; it does not connect directly to classroom mains power, lighting circuits or air-conditioning equipment.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17CFB-36CE-4637-81C7-566E00DC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Aligned with the VeCAD Internship Project 1 specification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1779D-8DA2-43C3-B0FC-25417CAF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636296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D9F168-FB49-497D-A909-12BB05E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5D242-F16C-40D3-BD21-2DC4E2C8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FE92-2A27-4B8C-B56D-72B55BC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DA59D-CEA5-4049-8B3F-2706FC4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F4680-E163-42B9-B668-06CEC088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Sensors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2EB6E-6E74-4EF8-8041-24D4D625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266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D1E19-A027-4F86-BC41-87C2E79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1962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2 × PIR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033A5-3B10-4D90-A182-BD47FF1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Motion 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9EDDE-101F-49F8-9737-A47F39A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266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CC7E7-9DF7-4A4F-B096-A053E29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962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BME280 + BH1750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68BDA-F5E4-43C8-8589-7FE15F4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Temperature, humidity, light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2E90B-EA66-4781-9653-CE51881F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266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F97F9-4F9B-4110-940E-2261319E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962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VL53L0X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4E2AD-3322-4643-9575-3D247FEC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Distance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E7A3-9ADB-4AE3-8014-0047D9AA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0871D-186E-4C0C-829C-2E6B0E59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CD731-EAB1-4B80-9D0E-21181115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72050"/>
            <a:ext cx="119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DE873-CB4A-47DC-846A-A9CF5DC7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099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71E36"/>
          </a:solidFill>
          <a:ln xmlns:a="http://schemas.openxmlformats.org/drawingml/2006/main" w="0">
            <a:solidFill>
              <a:srgbClr val="071E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42BBB-312A-4562-B54A-4E53DD9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670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STM32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NUCLEO-L476RG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11B60-7FB1-4439-B3CC-0ACE65D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F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FE9EA"/>
                </a:solidFill>
                <a:latin typeface="Arial"/>
                <a:ea typeface="Arial"/>
                <a:cs typeface="Arial"/>
              </a:rPr>
              <a:t>Sensor reading</a:t>
            </a:r>
          </a:p>
          <a:p xmlns:a="http://schemas.openxmlformats.org/drawingml/2006/main">
            <a:pPr algn="ctr">
              <a:defRPr sz="1275" b="0" i="0">
                <a:solidFill>
                  <a:srgbClr val="CF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FE9EA"/>
                </a:solidFill>
                <a:latin typeface="Arial"/>
                <a:ea typeface="Arial"/>
                <a:cs typeface="Arial"/>
              </a:rPr>
              <a:t>Feature processing</a:t>
            </a:r>
          </a:p>
          <a:p xmlns:a="http://schemas.openxmlformats.org/drawingml/2006/main">
            <a:pPr algn="ctr">
              <a:defRPr sz="1275" b="0" i="0">
                <a:solidFill>
                  <a:srgbClr val="CF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FE9EA"/>
                </a:solidFill>
                <a:latin typeface="Arial"/>
                <a:ea typeface="Arial"/>
                <a:cs typeface="Arial"/>
              </a:rPr>
              <a:t>On-board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75040-8A62-4399-9BAF-F4993F3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B849F-02CC-4D07-BA76-689563E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F325E-34EB-4128-AF33-3F0EFCE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5260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90414-0D07-4F7C-B76D-E352648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85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OLED Display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87DD1-C09D-4F62-B403-A8B14C7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19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Live values and AI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76C7A-591C-4F9F-BC5F-256D680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5297D-8B85-4B9C-8F8C-D12B0E34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194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LEDs + Buzzer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CB447B-4A3C-4C63-B629-E110A58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52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Status and warning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02915-D817-4442-A0D5-BBA0E833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19550"/>
            <a:ext cx="2286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8F705-B78D-43D0-97BA-4C20FB5C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529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Serial CSV Logger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DEB669-EA5D-4496-AAF0-00CACD63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862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Labelled data sessions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37DF0-CD44-4036-AF78-AE484172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Hardware system and data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B3247C-80A9-4B7F-88C0-876ECB81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923905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C1F6F-C940-43CB-8662-75477E87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C6C89-C362-44E5-A8E4-A7453FC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Hardware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8A236-8474-411C-96DE-B78596A1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72EAD-A976-49E7-959B-E7F32500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6c0a3f61f4238"/>
          <a:srcRect xmlns:a="http://schemas.openxmlformats.org/drawingml/2006/main" l="6915" t="0" r="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85875"/>
            <a:ext cx="514350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72C51-306D-4139-917F-4564368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15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AE8D-FFAA-474F-A2DD-D387534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NUCLEO board, breadboard and sensors are mounted in one portable enclosure.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2298C-22CE-4424-A7E5-6C91F8E3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Two PIR sensors provide room-motion coverage from opposite directions.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BME280, BH1750, VL53L0X and OLED share the I2C bus.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Buttons select labels and start or stop data recording.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LEDs and an active buzzer provide immediate status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9E5EC-FFA6-4D1F-96A5-EC8CFA27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149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Design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A094B-A1B2-4D88-B299-9C096026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474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The prototype prioritises sensor testing and explainable behaviour before a final enclosure 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D0A54-23C8-4AC4-B948-68E20B56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Integrated STM32 multi-sensor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F06C1-C5BF-49CA-A5E3-0CC7C2C7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081975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6584C-6022-4086-A7FC-F6AE2FFB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1E0B6-1224-4595-B7FD-F9DCD8C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Hardware Interfaces and Development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4A4AF-C6B8-4FFA-9F4A-3A1536B0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535AD-3F33-41E3-AC20-C5B8C2E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5E751-C1C6-43FC-AD9B-0893285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project combines one shared I2C sensor bus with independent GPIO inputs and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01465-67B9-470B-9436-34C4FF6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5910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1B1B5-15EC-495B-92E5-C9619DF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I2C bus: PB8 / PB9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F24E5-8043-4D8C-9845-FCA70268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3829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BME280: temperature, humidity and pressure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BH1750: ambient light in lux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VL53L0X: distance measurement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SSD1306: OLED display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1B402-0ED3-44C3-A728-4D7E81A1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45910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66647-DCF3-4E4C-A47F-F2C49D6D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GPIO and firmware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CEB79-E5EE-45DF-983F-AD18DBCE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05125"/>
            <a:ext cx="38766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2 PIR modules: motion inputs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2 buttons: label selection and start/stop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LEDs and active buzzer: status feedback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38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>
                <a:solidFill>
                  <a:srgbClr val="10243A"/>
                </a:solidFill>
                <a:latin typeface="Arial"/>
                <a:ea typeface="Arial"/>
                <a:cs typeface="Arial"/>
              </a:rPr>
              <a:t>USB UART: diagnostics and CSV logging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EC5FC-6704-4CF8-92FD-4D8B786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STM32CubeIDE generated the MCU initialisation and HAL drivers. TensorFlow trained the model, then STM32Cube.AI generated the embedded AI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34536-BECD-4AF0-BEA4-CD03CB2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I2C, GPIO, UART, STM32CubeIDE, TensorFlow and STM32Cube.AI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66F22-2AE0-45B3-9843-C375A41A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9186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04236-A2F2-47B4-8197-D5135DEE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A5682-1C23-434F-A72B-01C1E9E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Data Collection and Labelling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11704-4E37-4DA0-BCA6-AC81E72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6EB18-A3AD-4D83-B699-2C0C12BC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D028F-351C-40F6-B0C8-FC63FFFC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4302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STM32 writes labelled rows through the serial port. A Python logger stores each session as CSV.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CA63F-4F73-4191-8817-E8B1467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Labels: EMPTY, LOW and HIGH occupancy.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Conditions include lighting and air-conditioning changes.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75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43A"/>
                </a:solidFill>
                <a:latin typeface="Arial"/>
                <a:ea typeface="Arial"/>
                <a:cs typeface="Arial"/>
              </a:rPr>
              <a:t>Transition rows at the beginning and end of sessions were removed before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891FC-244E-4D5A-85CC-7ACDC0D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6,479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E0C26-4F13-423C-8B4E-139204BE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valid sensor readings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C293B-5E90-49A9-9580-16A2B0A5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005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1,221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34218-2E6E-4A5B-8C24-B475061A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53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overlapping AI 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2BC1D-A1C9-4C7D-982C-A4D38FB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00575"/>
            <a:ext cx="121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B4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B4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D815A-0AE1-4AD5-ACA9-5239F2E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5302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occupancy classes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59e404ca04ccb"/>
          <a:stretch xmlns:a="http://schemas.openxmlformats.org/drawingml/2006/main"/>
        </p:blipFill>
        <p:spPr>
          <a:xfrm xmlns:a="http://schemas.openxmlformats.org/drawingml/2006/main">
            <a:off x="6869138" y="1352550"/>
            <a:ext cx="4511624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CFB04-B84C-4E59-83D9-73BAC4C5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0545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Each CSV row keeps the time, PIR data, environmental readings, validity status and selected occupancy label.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82B90-8305-4F8B-817F-025774F6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Labelled CSV sessions form the AI training dataset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7B06C-48EE-4B1F-92BC-16B136D5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3110019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E91FE7-1049-4D8D-AD64-544F5D76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834C-1425-495D-8096-D1647301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Dataset Preparation and Quality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D494-BDA9-465B-ABC0-846C0D7B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F0D19-773B-4060-9943-BE1F150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51102-9199-4902-BD07-DBD7549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Raw data is not sent directly to the model. It is checked, cleaned and converted into consistently labelled time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7D544-63FF-4DF0-A7AA-6E16D29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57B58-57CC-4EAE-A65C-B6A2D8A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61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73042-C616-4765-B464-1602B377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5C86A-2504-468E-A5BC-6FA820B9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Session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E9A22-93FB-42F6-8E16-9A2F5F4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Verify the selected occupancy label and confirm the room condition for each recording.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F428E-2ADC-40C5-BFC2-3A23C224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7CB56-7F81-403A-8591-4E2DC62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361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D6A76-DD27-429E-8DCD-3379F1C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E4115-509F-4112-AAF6-CBD7A22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Transition removal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06248-7DCC-41F1-9A86-A1334100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Remove start and end rows that include button presses, entry movement or leaving the test area.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0B79D-FEFE-4FD6-924F-9701E4C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89861-0B09-413D-AE70-F22AF9C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361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3903C-B4F1-4156-A2AB-5F5A8F2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A9700-5998-4748-BF44-3B15578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Validity filtering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A9041-9674-4855-9D06-00C27E9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Retain records with usable sensor values and preserve the original session identity.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86D42-4BDC-4B1B-BB5D-CD7F6367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E4EDA-C348-456E-9153-2F7405F8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361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5CFE1-7DDE-4DBE-8FB8-F8EBE32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F2B7A-9CCE-46A5-B211-9CBC4954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862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Window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D3CC0-A61F-4466-86FB-B53F0E19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Build overlapping 30-sample windows and calculate one set of features per window.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AA9BA-4125-4516-822F-4C696EC2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979B2-2736-4BDE-9C57-603D09BE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67200"/>
            <a:ext cx="361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37174-1E44-4048-BE78-9C3088E5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E6E2F-D1BB-42F8-87EF-9C636944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Recording-level split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C68C6-1F6E-494E-BE8E-34FD4221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2724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Keep recordings separated across train, validation and test subsets to reduce leakage.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804A72-84FD-4218-825F-BC596D57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Data preparation creates a fairer and more realistic model evaluation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E36CE-DD7C-4C7C-9F94-CF1E50D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235400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0FE9F5-CCE4-4147-A710-5A105C15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F329C-E5D3-4CDC-B47D-7BAE094E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Feature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98226-650E-44C1-9981-DECE269E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E2D23-B581-47F2-A3E1-6CB03913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15FC2-801E-4B03-8A2D-F855529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971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outputs describe motion at one instant. The model needs a short history of activity.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1BE4B-3164-44DF-89B6-38180EBE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30 latest PIR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C11FD-2B99-420E-AE47-88B046B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43643-2726-47BB-9C2E-912DADC2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814D4-751F-46B0-A4D2-FADE05B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E1373-4AD1-49E2-AE9F-A03C2A7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56F99-99BB-4A03-A2DD-2631CC4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E7C86-3A31-4D89-9000-CB7BC25D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EA9FE-666E-4A52-BA96-95A5CED3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9B67C-AF3F-48FC-B410-0FED0055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80C36-FE96-4AA9-8BC0-D49F348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8FB11-002A-44BA-A699-95922A7D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12DBB-3CA4-47C5-A609-6355D23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B0AB6-BFFE-4A05-B4EE-D11EBB9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03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2E869-E01B-49F3-9BDF-7BC1281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14F86-79C4-4EA4-A0D7-8B13EEBE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D7DF8-2063-45EE-ABE1-697249D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69725-DE2A-4522-AAC7-9FAD2832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1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3C29F-349F-4628-92AC-665BA467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F65F5-37E4-486A-9231-0B1C3AB3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309752-C9B5-4E67-BC01-A2343A5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75364-17AD-4D99-952B-3A1CCA96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FE1B6-086F-414C-B08E-7D3526A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61813-890E-4B67-93EB-03C4719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F3CDC-4FD9-46D3-A8CF-2CFBF21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32660-BC6D-4B90-B448-6B699F68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16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0209FE-EFAC-44BD-A293-2CE43361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8D3AF-E7FB-4011-BA25-016FFAE0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D9F388-480B-4200-842D-78F00736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D0E55-265F-40B8-A599-3E19536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D2BA49-3888-4725-A36C-0F62AD95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947E53-D9F3-4CB4-A860-D06C394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575B61-23B8-4FA5-ADEA-7807ED22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04747E-B610-4615-90FE-D4B47920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B69FDB-AE6B-406E-A77F-D627F7A3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9C4750-2B29-47F5-BAB4-41A230EF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E054A5-1DEF-49B5-B03A-1723FB2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0B0362-3F39-4C93-A67F-B4A3F4C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8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1BB8B3-DA6A-460C-BCF6-F3D80BF6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7EF3F1-D90B-43B2-89C4-3E1A209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9B9753-EE94-461C-B2B4-97EA9BC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66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7B241D-608C-442F-915D-32CA1ED7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66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2055A9-5338-41A7-90E9-A7777468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C2412B-1CDC-4533-9007-8A8B587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9AA4FE-835B-4DFB-A8E0-BEB5F61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9B6F67-1AFB-4CE7-B9FB-3CF6213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F6E9A6-801D-49BA-93C7-7E83EE4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C14954-3590-47E8-B059-122BA57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49F0AE-E117-439F-99D9-DC9B068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D31D27-3868-45C2-BD84-FC0E73D7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41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A8EAD0-6B8C-4E9D-BCFF-576C43B6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C90374-2EFC-4CFB-937B-99019E0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8AC2CC-AAC6-47BF-B510-22C978F6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BFFEEB-934A-44A7-A72D-B018826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9E1D5A-A85A-468A-A174-E946CF25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49353A-ADD0-4A11-9EE0-F34A4DC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D11729-4AFA-42D8-87AE-1797422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3509E0-5608-486C-B827-22684DF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07BD1F-62EB-4D50-958E-7C6ECC16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B6B2AC-6911-4A20-B700-C92BB08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D60135-5D03-400D-A0D2-148DF7F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2857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376345-115D-4A4B-9F96-3C340B8C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34861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433FF4-2BE3-4129-98F0-708E3ED2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432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PIR 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6E291D-2381-43BE-A43E-A28CEBD1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718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PIR 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D621FE-343E-4AEC-8FE1-FE25CC0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Window ≈ 30 seconds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D0B861-0A89-4EDD-9F1B-B4901D1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480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81BB76-DBFD-4557-A6E4-E9EBEB18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9375"/>
            <a:ext cx="1657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6 motion</a:t>
            </a:r>
          </a:p>
          <a:p xmlns:a="http://schemas.openxmlformats.org/drawingml/2006/main">
            <a:pPr algn="ctr">
              <a:defRPr sz="21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805ED3-680B-437D-8D69-B7147491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31A85E-C90D-4202-912D-E72DD8EC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4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ctr">
              <a:defRPr sz="210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029D35-E688-42DC-9FDB-50BE25F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A new result is produced every 5 samples, approximately every 5 seconds, after the first window is full.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C4C740-3E91-4D3A-B74E-6DD6A99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Why this matters: the model classifies activity over time instead of reacting to a single PIR event.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C89F79-B567-4010-A1F1-D21852DE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Feature engineering for motion-based occupancy classification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C151BC-956F-4AB2-81F1-42680401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5661720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D0EFDF-9220-4A09-9A40-DDD661EE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8C80-1E17-4962-888D-B46277F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Six PIR Features Used by the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1C7B0-AEC2-4E87-8D93-92FD0852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001BA-CE16-4691-BA7E-EFAE13EF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5BE35-CF27-446D-A37C-AFFF4928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neural network receives six numerical summaries of the latest 30-second motion window -</a:t>
            </a:r>
          </a:p>
          <a:p xmlns:a="http://schemas.openxmlformats.org/drawingml/2006/main">
            <a:pPr algn="l">
              <a:defRPr sz="168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not the raw PIR values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2CE28-5880-4FF7-95E0-8263FDD0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26B8C-05D9-4AB1-98F3-C2D276A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336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0E46A-978C-4625-958B-487047F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288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C1C59-64ED-4C2C-98E0-5D5FF7AD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955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1 active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E4724-0130-47AA-A829-D6A6645F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384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Fraction of window samples where PIR 1 was HIGH.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5A711-07F3-44E0-B419-A0B52E79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7263B-0F76-4CD0-B7BC-836743A0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336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03FD7-3862-4095-AEEA-C2DFC84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288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A4052-4241-4F66-90FD-CC10E037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2955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2 active 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1357F-CE85-466F-8F4D-49EBF599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384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Fraction of window samples where PIR 2 was HIGH.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6C8AC-EBEB-4A68-AEFF-277C76B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97B326-FC4A-4FCB-B560-97449AF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528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617A29-DC77-4A48-B13E-EB84B59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480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F2843-7DBB-44F9-86DA-19F9799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147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Any-PIR active ratio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D25EE-1290-4178-94EF-C242F93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857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Fraction of samples where at least one PIR detected motion.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B875F-873B-4B8C-936C-61C67B3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623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E425C-6346-4EA6-B587-1130B6F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528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B806B-660F-42C2-ADE2-9B08793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480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4AA44-E98D-4DBB-AEE4-649FF56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147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Both-PIR active ratio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089BB-AEF8-477F-BEB5-B8D90AC6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57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Fraction of samples where both PIRs were HIGH together.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CFBDC-C577-46E4-B07E-307AE0F3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42205-89DC-410A-BFFB-19D45DB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720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9CD54-E97B-4D2A-B2F0-4A448E8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67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4A1CF-F8B5-48B0-8D43-B5AD069E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339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1 rising edges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16022-F4D4-4379-A601-9098D1B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768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Number of LOW-to-HIGH transitions from PIR 1.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D8A26-CE94-4FA4-9AFE-6420FBAF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8152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CEADD4-5150-4C8E-B7AA-97ABCCC5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7202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BCCE9-0FBD-411E-95EA-BB42F26E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672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ADB4D9-8886-40B5-84C3-72CE086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33925"/>
            <a:ext cx="390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PIR 2 rising edges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E82665-BD07-40C3-A04A-98716F3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768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Number of LOW-to-HIGH transitions from PIR 2.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6BD26E-C26D-45AC-8279-6B9B005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912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Ratios describe how long motion was present; rising edges describe how often activity started.</a:t>
            </a:r>
          </a:p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Together, they give the AI a richer motion pattern.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DC99E-8B1E-4337-A3AC-C0AF4769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Feature order is identical during training and on the STM32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EE88B1-A65D-43F5-8E74-535F6005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928934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7B087-64E0-4E6B-9815-04A1F67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3B5F8-16D8-46F5-9632-D8E4A210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Normalisation and INT8 Quantisation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10FFD-066B-4BE8-A978-84572811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A3CB7-EE27-4824-B7D9-2B46735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9E9A-F988-4349-ABE2-A17F080E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same feature-processing steps are applied during offline training and during live STM32 inference.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62CF4-5FE7-462D-A965-B081B16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38375"/>
            <a:ext cx="3048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3CCF1-0BD0-4D7C-9F66-4DE08F3F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253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1. Raw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A505A-9E21-4579-940D-0AD25A59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2895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Different numerical scales:</a:t>
            </a:r>
          </a:p>
          <a:p xmlns:a="http://schemas.openxmlformats.org/drawingml/2006/main">
            <a:pPr algn="ctr">
              <a:defRPr sz="1425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ratios 0 to 1,</a:t>
            </a:r>
          </a:p>
          <a:p xmlns:a="http://schemas.openxmlformats.org/drawingml/2006/main">
            <a:pPr algn="ctr">
              <a:defRPr sz="1425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rising-edge counts 0 to 29.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3D5B8-D9CD-493C-BA61-414EE26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57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6A73F-1A62-4773-870A-7C1F7177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38375"/>
            <a:ext cx="30480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CC8B3-810A-4BC1-AB56-B518C52E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505075"/>
            <a:ext cx="253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2. Normalise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508C8-AE6C-423F-ABCA-B8264BB9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52750"/>
            <a:ext cx="2438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normalised =</a:t>
            </a:r>
          </a:p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(feature - training mean)</a:t>
            </a:r>
          </a:p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÷ training standard deviation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88739-CB9F-47E7-B64B-D7906721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575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6E6D4-C32E-4263-ADDB-2E9399DF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38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DFE0E-BCE3-4560-9D66-D045E0B3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3. INT8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CB166-3F45-4797-874A-854D4B04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857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Convert the normalised values to signed 8-bit integers for the compact deployed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E0D50-293A-4654-A524-AEEC8E1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530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Why normalise? It prevents a larger-scale feature, such as a rising-edge count, from dominating a small ratio feature just because of its numeric magnitude.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A1B14-59DF-444A-AE5B-707EC3C0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531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Why INT8? It reduces the deployed model to 3,616 bytes while preserving the recorded test accuracy.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76D41-5A60-4496-BAE6-0D71DF7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Training statistics are stored in the embedded feature-processing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D9815-3DBB-4CF4-B073-1CF4973E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1097501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9081EA-979C-424A-8375-D60D262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DC4D5-E12E-4508-8106-686BAC2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TensorFlow Neural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996B5-72B2-4995-A1D7-35A95EAD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2F741-4EA2-4F63-8B19-4465635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0ABA9-1546-47D9-997A-7AEF33D3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A compact neural network classifies the six PIR features into three occupancy classes.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6FFDA-F825-4572-AF0A-BD77C4B7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01F90-6E34-44E0-BE5C-D1EA0C58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9091A-9F5A-466D-8105-F6E8430D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337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22322-196F-4C9A-83E5-3345A17A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EAF1F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3D6FB-3A0D-4DEE-A20C-40C096EB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E4F96-64CD-4D61-B7C4-9B1F8472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6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5C6B7-80B2-4EA7-AFC3-C7439F3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24125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CBDBB-9A67-4A26-B7AD-652235C8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Hidden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CD556-4995-4E40-BF97-25B7B49E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480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 ReLU neurons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2B21E-84A8-4FFA-9E1F-F0BBB943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24125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7D79"/>
          </a:solidFill>
          <a:ln xmlns:a="http://schemas.openxmlformats.org/drawingml/2006/main" w="0">
            <a:solidFill>
              <a:srgbClr val="087D7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5B7CF-64F4-4EC9-BCFF-4E5A5CA2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819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Hidden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216E3-9C37-4489-ADCC-9512612F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480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 ReLU neurons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7148A-1BEC-4923-8B0F-3F77AA23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58923-CEEB-45E9-B407-4A9292FF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66740-C537-4F50-BD86-0C88ECD6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48025"/>
            <a:ext cx="133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EMPTY</a:t>
            </a:r>
          </a:p>
          <a:p xmlns:a="http://schemas.openxmlformats.org/drawingml/2006/main">
            <a:pPr algn="ctr">
              <a:defRPr sz="1350" b="0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LOW</a:t>
            </a:r>
          </a:p>
          <a:p xmlns:a="http://schemas.openxmlformats.org/drawingml/2006/main">
            <a:pPr algn="ctr">
              <a:defRPr sz="1350" b="0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9B508-82C3-48DD-A3EF-FB82370F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Training uses separate train, validation and test subsets. Early stopping selected the best point before overfitting increased.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EE377-14B5-4310-947C-5119E9FC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864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275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0D660-2699-4A14-8AA8-742B171B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38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trainable parameters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7D21F-97FE-43C0-92B8-8028988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864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7EDDA-76A5-4022-A35D-21E57070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2388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epochs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8843B-D50E-48ED-B4B6-ADA05B4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864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1322CF-8F4A-4BB6-BDBE-CBC36FF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38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maximum epochs allowed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2DEAE-8375-4FDE-A86C-2D8A313F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Keras model: 6 inputs, 16 and 8 hidden neurons, 3 Softmax outputs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89589-18C8-424E-90E8-BD6C4DD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561505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D056A-6D26-45D4-A8A7-BD58049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5BFD9-E914-4B74-98A6-055FD637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Training Method and Model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6CE76-26C7-421B-865B-2E153454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15AA3-CE7D-4493-A83D-E1D6FA09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7F4BB-D186-41C1-AB5D-0FDC66F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3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model was trained and evaluated using separate recordings so the final test result represents unseen sessions.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9BE15-D5FD-4B02-B391-248AA138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1813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3786-3BF2-474D-8502-3973AE21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181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C5DCC-FFAA-401D-813F-5C9647A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EE529-1771-44DE-82AD-B71B3AB7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0A7A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A7A0"/>
                </a:solidFill>
                <a:latin typeface="Arial"/>
                <a:ea typeface="Arial"/>
                <a:cs typeface="Arial"/>
              </a:rPr>
              <a:t>659 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AA2D0-1E6C-41C6-8FBA-31E23F58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29025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Used to learn model weights. Class weighting reduces the effect of uneven class counts.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E5B6D-47F4-4B3A-BD24-48EE4DF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1813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05CB1-A18F-43F1-B171-C57049F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86000"/>
            <a:ext cx="3181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371C4-4B09-44D3-942C-CCD1D381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F8282-BC49-4C87-BD6A-B931441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306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166C7-5E2A-4D7E-8D5C-0DB1671B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Observed during training to choose the best model point and prevent overfitting.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AF235-CAA5-48D6-A90F-C4B7B289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81350" cy="2352675"/>
          </a:xfrm>
          <a:prstGeom xmlns:a="http://schemas.openxmlformats.org/drawingml/2006/main" prst="roundRect">
            <a:avLst>
              <a:gd name="adj" fmla="val 3239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0F8B2-AB82-46DB-8C23-3FDB0E37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3181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2DB4A-3017-42B8-A56B-724DD89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A08FC-41F8-49BF-AE6D-D6EE3CCB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B4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B44A"/>
                </a:solidFill>
                <a:latin typeface="Arial"/>
                <a:ea typeface="Arial"/>
                <a:cs typeface="Arial"/>
              </a:rPr>
              <a:t>256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C6F2D-DE10-44FB-896B-21E8A5DE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29025"/>
            <a:ext cx="2495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Held back until the end for an unbiased final accuracy and F1 measurement.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B1284-7CB1-45F2-B39A-63BDF68D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Maximum: 300 epochs  •  Optimiser: Adam (learning rate 0.001)  •  Batch size: 32  •  Loss: sparse categorical crossentropy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82FFC-D88A-4370-AA6C-A2E5F16A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27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Early stopping monitored validation loss. It stopped after 49 epochs and restored the best weights because further training no longer improved validation performance.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6AED0-1B4E-4DCD-9060-4AC0FC13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Early stopping protects the model from unnecessary training and overfitting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E4BD7-EE33-4ED2-AD70-3C5F7FA8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824726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CCA67-7285-4764-A911-8B0FA617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140C1-3166-434B-9EAA-28FBC3BC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Training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AF108-883A-421E-8C4F-65EEEF0A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4B2F5-3295-402E-B604-F56147E6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776ee53b54b89"/>
          <a:stretch xmlns:a="http://schemas.openxmlformats.org/drawingml/2006/main"/>
        </p:blipFill>
        <p:spPr>
          <a:xfrm xmlns:a="http://schemas.openxmlformats.org/drawingml/2006/main">
            <a:off x="571500" y="2012007"/>
            <a:ext cx="6496050" cy="239583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b0d8341f14bd6"/>
          <a:stretch xmlns:a="http://schemas.openxmlformats.org/drawingml/2006/main"/>
        </p:blipFill>
        <p:spPr>
          <a:xfrm xmlns:a="http://schemas.openxmlformats.org/drawingml/2006/main">
            <a:off x="7391400" y="1606960"/>
            <a:ext cx="3524250" cy="25010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746B-D871-4DDF-A4B8-C8B7DD6F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88.67%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03243-67A5-4138-81FE-43A493D5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6FB38-083E-4301-85A3-A1E3E620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34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87.47%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3461B-96C6-429D-94E8-237B7F5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8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macro F1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212B2-739F-49E3-881A-7685792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40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B4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B44A"/>
                </a:solidFill>
                <a:latin typeface="Arial"/>
                <a:ea typeface="Arial"/>
                <a:cs typeface="Arial"/>
              </a:rPr>
              <a:t>3,616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1CD1-8A92-4462-A86D-7EC1123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INT8 model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D3C7C-3535-43EF-B428-E67A4800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FBB8F-3CC5-48FF-BE31-7F096E5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EMPTY and LOW have strong separation. HIGH remains the main class to improve with more varied recordings.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F8C22-EB05-4975-A8FB-715F8E9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Float and INT8 models recorded the same 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6FB31-7418-444C-962C-76C91252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6764033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2C620-1F14-47CF-9C14-0541EAA8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0807C-8891-4AD7-A8E1-6956FFDA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STM32Cube.AI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82C6C-A078-4235-87EF-FDD913F0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E393-85FD-4A6C-96D3-2F450D03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BD43A-5E9F-4916-85A0-313C9CD6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942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trained model was converted from a TensorFlow model into embedded C code for the NUCLEO-L476RG.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56a6947d844e1"/>
          <a:srcRect xmlns:a="http://schemas.openxmlformats.org/drawingml/2006/main" l="0" t="2289" r="0" b="2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2171700"/>
            <a:ext cx="5019675" cy="29718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0C72E-271B-42E0-9939-3A53D5EC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Deployment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2C6D7-9686-4FB2-A45C-FEC92FF8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52700"/>
            <a:ext cx="3429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Keras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INT8 TensorFlow Lite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STM32Cube.AI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Generated C network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STM32CubeIDE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7C708-740C-46A5-99AB-8651EAA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91150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The generated files include network weights, data parameters and inference functions used by the STM32 application.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6914D-3CA7-4906-AE43-E9A3E514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X-CUBE-AI generated an embedded inference network from the INT8 TFLite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18B2B-F165-41CF-8F08-8B18F87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3182400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C10E6-CC98-4CEB-9A44-F7560E4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0360A-29E5-48F6-AB0B-280B137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Embedded Firmware: From Sensor Read to AI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38C02-EF1D-49FB-9E6E-5D07B084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5D9EA-35A0-4398-89FC-CCE49A0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919FF-94B9-4431-B954-1AEFEA9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3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STM32CubeIDE builds the complete application: peripheral drivers, sensor sampling, feature calculation, AI inference and user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E981F-9C44-4D6C-A0F8-E140976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Data-collection main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7DB3B-7E5A-4095-8CDE-0F3548D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4591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E36"/>
          </a:solidFill>
          <a:ln xmlns:a="http://schemas.openxmlformats.org/drawingml/2006/main" w="0">
            <a:solidFill>
              <a:srgbClr val="071E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22B06-8942-4E2A-96A4-3B3929F3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41338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Buttons_Update();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Buzzer_Update();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(one_second_elapsed) {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Sample_AllSensors();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Output_DataRow();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A4C86-D029-4497-A992-1182D78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859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AI inference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FEC72-2F28-4A9B-BF92-89F8338F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591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E36"/>
          </a:solidFill>
          <a:ln xmlns:a="http://schemas.openxmlformats.org/drawingml/2006/main" w="0">
            <a:solidFill>
              <a:srgbClr val="071E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D8AC1-60DD-4A47-8AD9-731CFD2E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95575"/>
            <a:ext cx="41338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if (new_window_ready) {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Compute(features);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Normalize(features);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Quantize_INT8(input);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OccupancyAI_Run(input, output);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Select_best_class(output);</a:t>
            </a:r>
          </a:p>
          <a:p xmlns:a="http://schemas.openxmlformats.org/drawingml/2006/main">
            <a:pPr algn="l">
              <a:defRPr sz="131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21174-D24A-41DF-98B9-BF7C5DEF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292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first block is taken from the main firmware structure. The second shows the inference sequence implemented by the occupancy feature and AI helper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E314A-E8D6-451C-B8FE-E7D50A2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Important: the same window, feature order, normalisation values and INT8 conversion used during training must also be used on the STM32.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17DB4-AB29-40F9-8006-CA451230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Main firmware coordinates sampling; helper modules provide repeatable feature and AI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8BD3C-D04A-4267-B43B-DD8FBF4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118344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3B4E3-4543-4A8D-8EB5-7D9EC2DF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33358-F83B-4B3E-9C40-62BA31CF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Live System Behaviour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AF91A-2A0D-4CAF-ABD0-1856DD7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D70A0-771E-4E06-B0CE-27D7D17E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6B981-B1CD-4416-9F51-FF9B551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5619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6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b3efa87e34345"/>
          <a:stretch xmlns:a="http://schemas.openxmlformats.org/drawingml/2006/main"/>
        </p:blipFill>
        <p:spPr>
          <a:xfrm xmlns:a="http://schemas.openxmlformats.org/drawingml/2006/main">
            <a:off x="571500" y="1742357"/>
            <a:ext cx="5619750" cy="198263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6FEEA-6D28-43F1-A5F2-87A3DF5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Boot scan confirms the four I2C devices before the AI model starts.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92380-AF50-4184-B739-E51E467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On-board 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84B80-0739-4940-B8B0-88E4E49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43338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After the first 30-sample window, the AI output updates every 5 seconds.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serial monitor prints the class, confidence and three probabilities.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OLED, LEDs and buzzer provide immediate local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5E57D-E3D5-47A6-9937-B792C94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Energy-aware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25CEA-61F4-4086-A0A1-935FDFD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29150"/>
            <a:ext cx="4238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When the AI reports EMPTY and the measured light remains high for a sustained period, the system issues a warning. Environmental readings support additional room-status alerts.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5A480-E960-4B27-80DD-F3D249D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AI occupancy output plus rule-based energy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E08AD-9E35-4E1D-9622-E38DE30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9906421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DAC77-815D-450C-A026-4188AF1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7D3AA-11DC-4F7F-844D-5D2057B5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Energy-Aware Feedback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E921A-DFE1-4214-9177-D940AEF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A7EA3-EE57-40D5-ABBF-A71B03C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429CB-00C6-46C3-BF79-9D93AF9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33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8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AI model estimates occupancy. Rule-based logic uses that result together with environmental sensors</a:t>
            </a:r>
          </a:p>
          <a:p xmlns:a="http://schemas.openxmlformats.org/drawingml/2006/main">
            <a:pPr algn="l">
              <a:defRPr sz="168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68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to create understandable warnings.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EB4F0-C0F3-4D3B-B70C-30CBA0DE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980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0E49B-C1C6-48A8-8BBF-6C4FDF83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47925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AI Occupancy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1A014-B4B6-42AF-841E-2BD3A37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95600"/>
            <a:ext cx="1885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EMPTY</a:t>
            </a:r>
          </a:p>
          <a:p xmlns:a="http://schemas.openxmlformats.org/drawingml/2006/main">
            <a:pPr algn="ctr">
              <a:defRPr sz="15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with confidence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87D78-E105-44D6-8B03-A2A406E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9ED4D-0550-46F4-9B6D-52AD72B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B1A73-8021-45C8-B39D-E48A4805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92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BH1750 Light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E03B6-950C-42A5-B1CA-6AF4D0D3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19240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Lux remains above</a:t>
            </a:r>
          </a:p>
          <a:p xmlns:a="http://schemas.openxmlformats.org/drawingml/2006/main">
            <a:pPr algn="ctr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configured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06CCC-CA4D-457F-AF8F-2011E737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24175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15D35-F911-417C-ADC9-41E45B84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2667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B44A"/>
          </a:solidFill>
          <a:ln xmlns:a="http://schemas.openxmlformats.org/drawingml/2006/main" w="0">
            <a:solidFill>
              <a:srgbClr val="FFB4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C17E3-ED05-48D9-98BA-7237471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47925"/>
            <a:ext cx="2133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Local 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E0D72-B96A-4F0E-8EF8-5345113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95600"/>
            <a:ext cx="2133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Buzzer + OLED/LED</a:t>
            </a:r>
          </a:p>
          <a:p xmlns:a="http://schemas.openxmlformats.org/drawingml/2006/main">
            <a:pPr algn="ctr">
              <a:defRPr sz="14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energy-saving reminder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B8A98-0BF2-480A-949A-3C9C29A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457700"/>
            <a:ext cx="9363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A sustained condition is required before a warning. This avoids reacting to a single momentary light reading or one uncertain AI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4ADEB-6415-46AD-9FCA-502A7BC8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57800"/>
            <a:ext cx="8648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F8BC0-C3B2-44C0-89EA-1699AB1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34000"/>
            <a:ext cx="805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BME280 temperature and humidity readings can support additional comfort or energy-status alerts,</a:t>
            </a:r>
          </a:p>
          <a:p xmlns:a="http://schemas.openxmlformats.org/drawingml/2006/main">
            <a:pPr algn="ctr">
              <a:defRPr sz="1313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but they are not presented as direct evidence of the number of people.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9FC6B-8F55-499D-B7FE-AB8578B8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AI occupancy is combined with transparent, explainable environmental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C8E34-F11D-40EE-BA31-A014F25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6518870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468C0-9874-471A-95FE-196DB0DE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3F7B3-57B5-4CAE-81EA-0F7DB988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Engineering Decisions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CA67B-A72F-4144-8CF2-82BAE67B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50FB-DA04-4084-B2B0-6CE7759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5690101684ce3"/>
          <a:srcRect xmlns:a="http://schemas.openxmlformats.org/drawingml/2006/main" l="12744" t="0" r="127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266825"/>
            <a:ext cx="4362450" cy="4391025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1028B-B7D3-427C-8AF9-F4FB398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What testing showed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B0F4B-0BF1-43A6-8BA3-4AD9F33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5334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PIR detects motion, so a person who remains very still can appear as EMPTY.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VL53L0X gives useful close distance data but its narrow field of view and observed range do not cover the full room.</a:t>
            </a:r>
          </a:p>
          <a:p xmlns:a="http://schemas.openxmlformats.org/drawingml/2006/main">
            <a:pPr marL="203200" indent="-101600">
              <a:spcAft>
                <a:spcPts val="700"/>
              </a:spcAft>
              <a:buChar char="•"/>
              <a:defRPr sz="1538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deployed model therefore uses validated PIR features, while BH1750 and BME280 support energy-aware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10B32-0CCC-4FF3-AA67-D5770114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F4DFC-6098-4A55-89A2-A6B404F9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62525"/>
            <a:ext cx="547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Add the third PIR for wider coverage, collect a new labelled dataset, then compare the new model against the validated two-PIR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55EAD-B9A0-4BE6-B806-E2C3701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Observed limitations guide the next development 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04A9F-34CB-47D2-BAF9-6EC2660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17171295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CEEF1C-8EF2-4358-9BA8-614777F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C0054-05BC-4911-AA1B-2822FB2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Future Development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A052E-BE07-4276-B766-CD439A0B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4D265-FDDF-4BCB-B3E6-08DBECF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B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AB4E5-30B0-4F9B-8A3F-2C22BBD0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838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The current two-PIR model is the validated baseline. Future work should improve coverage and robustness through measured iteration, not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FAEE8-1180-4D34-83AC-27A80219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46482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E1A7D-0671-4FAA-BA6D-2278864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907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PIR 3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24F58-8420-4736-8C56-2C83A27B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Install the third PIR to cover a blind area, then repeat all key EMPTY, LOW and HIGH recordings.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C1377-3B17-45F7-A6AA-1CA07D2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43125"/>
            <a:ext cx="46482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40CD0-B886-4A7D-810D-ACF09D6C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90775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Retrain and 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9FB10-E6C1-4C62-840F-923FFB94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Build a new three-PIR feature set and compare its accuracy, F1 score and false-empty behaviour against the current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7F131-9280-4A11-AA7C-3408B7D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6482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FF6F6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33885-D52F-4C10-B2E4-B59B6DF5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Sensor fusion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27ADD-38C9-4DCE-B9A9-2549E410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Evaluate distance and environmental features only when new data proves that they improve generalisation.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937F8-0B25-47FF-8ADF-07754492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57650"/>
            <a:ext cx="46482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EDB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A0CAD-B8AB-4BD3-B41C-B44790A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05300"/>
            <a:ext cx="407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D7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D79"/>
                </a:solidFill>
                <a:latin typeface="Arial"/>
                <a:ea typeface="Arial"/>
                <a:cs typeface="Arial"/>
              </a:rPr>
              <a:t>Practical enclosure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D8A93-07D9-41F9-A94A-66C5951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33925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10243A"/>
                </a:solidFill>
                <a:latin typeface="Arial"/>
                <a:ea typeface="Arial"/>
                <a:cs typeface="Arial"/>
              </a:rPr>
              <a:t>Move from the cardboard prototype to a neat fixed enclosure with safer cable management and permanent mounting.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7AF50-D2C4-4208-B60B-DF4932F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Future work: improve the evidence, then retrain and evaluate again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79C2E-91FE-4A2E-8641-02DE65F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770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587083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587083"/>
                </a:solidFill>
                <a:latin typeface="Arial"/>
                <a:ea typeface="Arial"/>
                <a:cs typeface="Arial"/>
              </a:rPr>
              <a:t>VeCAD Elite Internship 2026</a:t>
            </a:r>
          </a:p>
        </p:txBody>
      </p:sp>
    </p:spTree>
    <p:extLst>
      <p:ext uri="{BB962C8B-B14F-4D97-AF65-F5344CB8AC3E}">
        <p14:creationId xmlns:p14="http://schemas.microsoft.com/office/powerpoint/2010/main" val="2401842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4935-A08D-406A-82A7-9DA443C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7635-3EA6-4428-A87C-98E7F1E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CCB4B-B406-4476-9C96-98A36525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00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DE4E6"/>
                </a:solidFill>
                <a:latin typeface="Arial"/>
                <a:ea typeface="Arial"/>
                <a:cs typeface="Arial"/>
              </a:rPr>
              <a:t>A complete TinyML prototype from sensing and data logging</a:t>
            </a:r>
          </a:p>
          <a:p xmlns:a="http://schemas.openxmlformats.org/drawingml/2006/main">
            <a:pPr algn="l">
              <a:defRPr sz="1875" b="0" i="0">
                <a:solidFill>
                  <a:srgbClr val="CDE4E6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DE4E6"/>
                </a:solidFill>
                <a:latin typeface="Arial"/>
                <a:ea typeface="Arial"/>
                <a:cs typeface="Arial"/>
              </a:rPr>
              <a:t>to embedded AI inference.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2009B-0833-4DEB-A2D0-C1FDEEC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429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Integrated multi-sensor STM32 prototype with local feedback.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Labelled real-world CSV data collected and prepared for machine learning.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INT8 occupancy classifier deployed on the STM32 with 88.67% test accuracy.</a:t>
            </a:r>
          </a:p>
          <a:p xmlns:a="http://schemas.openxmlformats.org/drawingml/2006/main">
            <a:pPr marL="203200" indent="-101600">
              <a:spcAft>
                <a:spcPts val="800"/>
              </a:spcAft>
              <a:buChar char="•"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Energy-aware warning logic connected to the AI EMPTY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A3FCD-1E80-4066-9E94-DBF682F8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247900" cy="2990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solidFill>
              <a:srgbClr val="00A7A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C3644-5BF0-4B2B-A599-8EC1B668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38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defRPr sz="2775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9A1FF-F34C-488C-92E3-C5E60331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24200"/>
            <a:ext cx="1752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1. System boot</a:t>
            </a:r>
          </a:p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2. Motion classes</a:t>
            </a:r>
          </a:p>
          <a:p xmlns:a="http://schemas.openxmlformats.org/drawingml/2006/main">
            <a:pPr algn="ctr">
              <a:defRPr sz="1350" b="1" i="0">
                <a:solidFill>
                  <a:srgbClr val="071E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E36"/>
                </a:solidFill>
                <a:latin typeface="Arial"/>
                <a:ea typeface="Arial"/>
                <a:cs typeface="Arial"/>
              </a:rPr>
              <a:t>3. Empty-room alert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32FE7-70B6-430E-B5C7-23DB8DF7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4089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2026-09-20T11:51:23.2290000Z</dcterms:created>
  <dcterms:modified xsi:type="dcterms:W3CDTF">2026-09-20T11:51:23.2290000Z</dcterms:modified>
</coreProperties>
</file>