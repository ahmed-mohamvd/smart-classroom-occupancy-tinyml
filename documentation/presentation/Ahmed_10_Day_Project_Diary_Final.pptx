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b23a6490a6410e" /><Relationship Type="http://schemas.openxmlformats.org/officeDocument/2006/relationships/extended-properties" Target="/docProps/app.xml" Id="R3c1767d37f444cd5" /><Relationship Type="http://schemas.openxmlformats.org/officeDocument/2006/relationships/officeDocument" Target="/ppt/presentation.xml" Id="R752a362fd98b43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02cc81423e42ff"/>
  </p:sldMasterIdLst>
  <p:notesMasterIdLst>
    <p:notesMasterId xmlns:r="http://schemas.openxmlformats.org/officeDocument/2006/relationships" r:id="Ra5c24f9929f04007"/>
  </p:notesMasterIdLst>
  <p:sldIdLst>
    <p:sldId xmlns:r="http://schemas.openxmlformats.org/officeDocument/2006/relationships" id="256" r:id="Re8e4fe4792e84cab"/>
    <p:sldId xmlns:r="http://schemas.openxmlformats.org/officeDocument/2006/relationships" id="257" r:id="R1b88373dd21044fd"/>
    <p:sldId xmlns:r="http://schemas.openxmlformats.org/officeDocument/2006/relationships" id="258" r:id="R90b1e6cf70374976"/>
    <p:sldId xmlns:r="http://schemas.openxmlformats.org/officeDocument/2006/relationships" id="259" r:id="R664e0e17387a45d4"/>
    <p:sldId xmlns:r="http://schemas.openxmlformats.org/officeDocument/2006/relationships" id="260" r:id="Rcf519ec8b9fd4a9d"/>
    <p:sldId xmlns:r="http://schemas.openxmlformats.org/officeDocument/2006/relationships" id="261" r:id="Rb45b8c34113443a1"/>
    <p:sldId xmlns:r="http://schemas.openxmlformats.org/officeDocument/2006/relationships" id="262" r:id="Rb7f6f0086471486f"/>
    <p:sldId xmlns:r="http://schemas.openxmlformats.org/officeDocument/2006/relationships" id="263" r:id="Rcba28d3fc6e44b16"/>
    <p:sldId xmlns:r="http://schemas.openxmlformats.org/officeDocument/2006/relationships" id="264" r:id="Rba1f58e68e384178"/>
    <p:sldId xmlns:r="http://schemas.openxmlformats.org/officeDocument/2006/relationships" id="265" r:id="R3502ad38577c4c49"/>
    <p:sldId xmlns:r="http://schemas.openxmlformats.org/officeDocument/2006/relationships" id="266" r:id="Rf522e055190a469d"/>
    <p:sldId xmlns:r="http://schemas.openxmlformats.org/officeDocument/2006/relationships" id="267" r:id="Raa4bd1b596e24f81"/>
    <p:sldId xmlns:r="http://schemas.openxmlformats.org/officeDocument/2006/relationships" id="268" r:id="R92f396e51dff43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fe52ee41714f52" /><Relationship Type="http://schemas.openxmlformats.org/officeDocument/2006/relationships/slideMaster" Target="/ppt/slideMasters/slideMaster1.xml" Id="R0c02cc81423e42ff" /><Relationship Type="http://schemas.openxmlformats.org/officeDocument/2006/relationships/notesMaster" Target="/ppt/notesMasters/notesMaster1.xml" Id="Ra5c24f9929f04007" /><Relationship Type="http://schemas.openxmlformats.org/officeDocument/2006/relationships/presProps" Target="/ppt/presProps.xml" Id="R1be288e2709a4178" /><Relationship Type="http://schemas.openxmlformats.org/officeDocument/2006/relationships/tableStyles" Target="/ppt/tableStyles.xml" Id="Re127c2f3e9964536" /><Relationship Type="http://schemas.openxmlformats.org/officeDocument/2006/relationships/slide" Target="/ppt/slides/slide1.xml" Id="Re8e4fe4792e84cab" /><Relationship Type="http://schemas.openxmlformats.org/officeDocument/2006/relationships/slide" Target="/ppt/slides/slide2.xml" Id="R1b88373dd21044fd" /><Relationship Type="http://schemas.openxmlformats.org/officeDocument/2006/relationships/slide" Target="/ppt/slides/slide3.xml" Id="R90b1e6cf70374976" /><Relationship Type="http://schemas.openxmlformats.org/officeDocument/2006/relationships/slide" Target="/ppt/slides/slide4.xml" Id="R664e0e17387a45d4" /><Relationship Type="http://schemas.openxmlformats.org/officeDocument/2006/relationships/slide" Target="/ppt/slides/slide5.xml" Id="Rcf519ec8b9fd4a9d" /><Relationship Type="http://schemas.openxmlformats.org/officeDocument/2006/relationships/slide" Target="/ppt/slides/slide6.xml" Id="Rb45b8c34113443a1" /><Relationship Type="http://schemas.openxmlformats.org/officeDocument/2006/relationships/slide" Target="/ppt/slides/slide7.xml" Id="Rb7f6f0086471486f" /><Relationship Type="http://schemas.openxmlformats.org/officeDocument/2006/relationships/slide" Target="/ppt/slides/slide8.xml" Id="Rcba28d3fc6e44b16" /><Relationship Type="http://schemas.openxmlformats.org/officeDocument/2006/relationships/slide" Target="/ppt/slides/slide9.xml" Id="Rba1f58e68e384178" /><Relationship Type="http://schemas.openxmlformats.org/officeDocument/2006/relationships/slide" Target="/ppt/slides/slide10.xml" Id="R3502ad38577c4c49" /><Relationship Type="http://schemas.openxmlformats.org/officeDocument/2006/relationships/slide" Target="/ppt/slides/slide11.xml" Id="Rf522e055190a469d" /><Relationship Type="http://schemas.openxmlformats.org/officeDocument/2006/relationships/slide" Target="/ppt/slides/slide12.xml" Id="Raa4bd1b596e24f81" /><Relationship Type="http://schemas.openxmlformats.org/officeDocument/2006/relationships/slide" Target="/ppt/slides/slide13.xml" Id="R92f396e51dff43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293be8b6194a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a78804d60d4f75" /><Relationship Type="http://schemas.openxmlformats.org/officeDocument/2006/relationships/notesMaster" Target="/ppt/notesMasters/notesMaster1.xml" Id="Re35fd1cc01a048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ecdb4c9f3b41d5" /><Relationship Type="http://schemas.openxmlformats.org/officeDocument/2006/relationships/notesMaster" Target="/ppt/notesMasters/notesMaster1.xml" Id="R2d6fbf0677e24d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af2dec5ddb416a" /><Relationship Type="http://schemas.openxmlformats.org/officeDocument/2006/relationships/notesMaster" Target="/ppt/notesMasters/notesMaster1.xml" Id="R23a20c82734548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a33c10345e46d1" /><Relationship Type="http://schemas.openxmlformats.org/officeDocument/2006/relationships/notesMaster" Target="/ppt/notesMasters/notesMaster1.xml" Id="Rcb03e19ec8c346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2ce6a985e6497f" /><Relationship Type="http://schemas.openxmlformats.org/officeDocument/2006/relationships/notesMaster" Target="/ppt/notesMasters/notesMaster1.xml" Id="R9d24e698139248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e23b1489fd4daf" /><Relationship Type="http://schemas.openxmlformats.org/officeDocument/2006/relationships/notesMaster" Target="/ppt/notesMasters/notesMaster1.xml" Id="R1651e5af1fb140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b558baa247492e" /><Relationship Type="http://schemas.openxmlformats.org/officeDocument/2006/relationships/notesMaster" Target="/ppt/notesMasters/notesMaster1.xml" Id="R10c78dfbd28a4f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ad9848251648b0" /><Relationship Type="http://schemas.openxmlformats.org/officeDocument/2006/relationships/notesMaster" Target="/ppt/notesMasters/notesMaster1.xml" Id="Rcba12c83ee464c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7723859332460d" /><Relationship Type="http://schemas.openxmlformats.org/officeDocument/2006/relationships/notesMaster" Target="/ppt/notesMasters/notesMaster1.xml" Id="R36d6b613ef0d43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ae1c43715542d1" /><Relationship Type="http://schemas.openxmlformats.org/officeDocument/2006/relationships/notesMaster" Target="/ppt/notesMasters/notesMaster1.xml" Id="Rb2255a1edcd044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5aa304ae274a5d" /><Relationship Type="http://schemas.openxmlformats.org/officeDocument/2006/relationships/notesMaster" Target="/ppt/notesMasters/notesMaster1.xml" Id="Ra93f5bfec0e440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b8e1d687694c3a" /><Relationship Type="http://schemas.openxmlformats.org/officeDocument/2006/relationships/notesMaster" Target="/ppt/notesMasters/notesMaster1.xml" Id="R08a391e636cf4c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8d1fa5ad1b41da" /><Relationship Type="http://schemas.openxmlformats.org/officeDocument/2006/relationships/notesMaster" Target="/ppt/notesMasters/notesMaster1.xml" Id="R08df7332b8e844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diary reconstructed from the supplied 10-day PDF template and the student's recorded progress.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Overview of the ten recorded workdays. Source: user-supplied project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project history and captured serial/build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project history and captured serial/build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project history and captured serial/build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project history and captured serial/build outputs.</a:t>
            </a:r>
          </a:p>
          <a:p xmlns:a="http://schemas.openxmlformats.org/drawingml/2006/main">
            <a:r>
              <a:t>Reference: https://github.com/Szu-Chi/Implement-MNIST-Handwritten-Digit-Classification-on-MCU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project history and captured serial/build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project history and captured serial/build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project history and captured serial/build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project history and captured serial/build outputs.</a:t>
            </a:r>
          </a:p>
          <a:p xmlns:a="http://schemas.openxmlformats.org/drawingml/2006/main">
            <a:r>
              <a:t>Reference: https://www.st.com/resource/en/datasheet/vl53l0x.pdf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project history and captured serial/build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project history and captured serial/build outputs.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project record and pilot logger results.</a:t>
            </a:r>
          </a:p>
          <a:p xmlns:a="http://schemas.openxmlformats.org/drawingml/2006/main">
            <a:r>
              <a:t>MNIST learning reference: https://github.com/Szu-Chi/Implement-MNIST-Handwritten-Digit-Classification-on-MCU</a:t>
            </a:r>
          </a:p>
          <a:p xmlns:a="http://schemas.openxmlformats.org/drawingml/2006/main">
            <a:r>
              <a:t>VL53L0X datasheet: https://www.st.com/resource/en/datasheet/vl53l0x.pdf</a:t>
            </a:r>
          </a:p>
          <a:p xmlns:a="http://schemas.openxmlformats.org/drawingml/2006/main">
            <a:r>
              <a:t>Multizone ToF option: https://www.st.com/en/imaging-and-photonics-solutions/vl53l5cx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0f568f2b4642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462cb5e1a6435a" /><Relationship Type="http://schemas.openxmlformats.org/officeDocument/2006/relationships/slideLayout" Target="/ppt/slideLayouts/slideLayout1.xml" Id="R4c3b03db80014d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3b03db80014d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9ebbc29864fda" /><Relationship Type="http://schemas.openxmlformats.org/officeDocument/2006/relationships/notesSlide" Target="/ppt/notesSlides/notesSlide1.xml" Id="R1e02926444714a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087cc90ce4994" /><Relationship Type="http://schemas.openxmlformats.org/officeDocument/2006/relationships/notesSlide" Target="/ppt/notesSlides/notesSlide2.xml" Id="R0efd9c82bbe94e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fca94e29e4f56" /><Relationship Type="http://schemas.openxmlformats.org/officeDocument/2006/relationships/notesSlide" Target="/ppt/notesSlides/notesSlide3.xml" Id="Rfcf398d6b5fc4c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b420080ad44c4" /><Relationship Type="http://schemas.openxmlformats.org/officeDocument/2006/relationships/notesSlide" Target="/ppt/notesSlides/notesSlide4.xml" Id="R01c6c35cf0bf4f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469a20d4d4491" /><Relationship Type="http://schemas.openxmlformats.org/officeDocument/2006/relationships/notesSlide" Target="/ppt/notesSlides/notesSlide5.xml" Id="Rd130fac4409e42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2e79113364470" /><Relationship Type="http://schemas.openxmlformats.org/officeDocument/2006/relationships/notesSlide" Target="/ppt/notesSlides/notesSlide6.xml" Id="R766eb42e0d874b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81e103832455b" /><Relationship Type="http://schemas.openxmlformats.org/officeDocument/2006/relationships/notesSlide" Target="/ppt/notesSlides/notesSlide7.xml" Id="R34d50e76ee6142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6b6f35ea744a6" /><Relationship Type="http://schemas.openxmlformats.org/officeDocument/2006/relationships/notesSlide" Target="/ppt/notesSlides/notesSlide8.xml" Id="R0cb1dea49ab64b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2c2c1d77b4013" /><Relationship Type="http://schemas.openxmlformats.org/officeDocument/2006/relationships/notesSlide" Target="/ppt/notesSlides/notesSlide9.xml" Id="Rd93af9e9fb6649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3f47ed4464e60" /><Relationship Type="http://schemas.openxmlformats.org/officeDocument/2006/relationships/notesSlide" Target="/ppt/notesSlides/notesSlide10.xml" Id="R4deea43c648e48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c5f324c70487e" /><Relationship Type="http://schemas.openxmlformats.org/officeDocument/2006/relationships/notesSlide" Target="/ppt/notesSlides/notesSlide11.xml" Id="Re3973927a2ea44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47dc481b94374" /><Relationship Type="http://schemas.openxmlformats.org/officeDocument/2006/relationships/notesSlide" Target="/ppt/notesSlides/notesSlide12.xml" Id="R63b020a853fa40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bb01967df4dc0" /><Relationship Type="http://schemas.openxmlformats.org/officeDocument/2006/relationships/notesSlide" Target="/ppt/notesSlides/notesSlide13.xml" Id="R97a5bcfa207a4b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842F0-8770-48FE-B33C-657DD3FC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EC06B-67DD-4178-95A8-77B89673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VeCAD Elite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2ECD7-ECDD-461E-92DE-80896B81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097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Embedded System - ST Edge AI Group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F35A9-1A7B-41DC-B457-B1ACF4E4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62175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F4E37-80AE-4C66-BB09-616732DD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10-day Project Diary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519FB-1D5D-4C67-83C4-FDDBFC06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04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TinyML Occupancy Estimation Prototype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FE961-D0E9-4B66-BB29-E523FB71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5775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Ahmed Mohamed Abdalla Ahmed</a:t>
            </a:r>
          </a:p>
          <a:p xmlns:a="http://schemas.openxmlformats.org/drawingml/2006/main">
            <a:pPr algn="ctr">
              <a:defRPr sz="2100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A24KE0429</a:t>
            </a:r>
          </a:p>
        </p:txBody>
      </p:sp>
    </p:spTree>
    <p:extLst>
      <p:ext uri="{BB962C8B-B14F-4D97-AF65-F5344CB8AC3E}">
        <p14:creationId xmlns:p14="http://schemas.microsoft.com/office/powerpoint/2010/main" val="13304653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CC27F8-ED7C-4E53-B3AE-674A664A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ACCB9-07D6-44A1-8DED-3C3FEC97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10-day Project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45874-B931-4D2E-8F2B-C663395A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From MCU bring-up to a validated data-collection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3EC15-4369-4066-9C19-FF70107B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59275-4D81-4D07-B423-2AAD3B37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DAY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782BE-520E-45BB-A9CA-8BB95259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54305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Foundation and System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030C8-EE08-4F98-94D8-BBC90550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573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Confirmed the MCU and development environment were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76822-CB99-4B0D-9194-9A95B77F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DAY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54C02-3B2E-41BE-92F4-F485062B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8125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Component and I2C Planning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6C264-89C4-4140-8BBE-A0495779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955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Completed the component list and identified the expected device addresses.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C9B45-D446-4072-B77D-3CD3ED0E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DAY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754B4-D1CD-4C3E-A0A7-14C521B3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1945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STM32 AI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5F5B1-B111-4739-ABBC-11106909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337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Understood that training occurs on the computer while inference runs on the STM32.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5ACB4-FC82-46D3-A94C-A5BCB9C6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7670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DAY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CFEF2-8411-4C76-82A5-CB156C82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5765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MNIST Deployment Study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88B31-96F9-46B7-B623-306B5CAE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719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Gained practical familiarity with the full PC-to-MCU inference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D2D4C-F907-44E6-B2D3-7139CA42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1490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DAY 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C3E773-890F-40B4-AD74-AB98B686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Hardware Preparation and Soldering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ED55C3-3152-431C-9550-87856CB0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101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Prepared the physical modules for individual electrical testing.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8A089D-0FB9-4A93-9AFC-C512500C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DAY 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7644E4-54F4-4D70-957A-EC30CA46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4305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Sensor Bring-Up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945820-0A99-4EEF-8B50-EB553922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573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Validated the basic drivers and confirmed live readings on the OLED and serial output.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FB6EB9-FB46-427B-87E4-CCD74A72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DAY 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CACC42-8B71-4232-AF4A-79EB4409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8125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BH1750 Fault Diagnosis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5D89E6-1E19-4542-B632-56E3E580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955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Confirmed that the original GY-302 did not acknowledge on either controller.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01294A-420C-4101-8BB9-101C1AE5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DAY 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10F24A-27FD-437E-81FF-B97A4DC4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1945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VL53L0X 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834378-98EC-4487-9D3F-DBBD595B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337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Obtained stable Status 0 measurements for close targets.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9A32C4-0EE4-4F62-AB02-3A273E05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DAY 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413562-241B-4AE8-B12D-B4067E97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5765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Full Hardware Integration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92879C-1815-4DAE-8A8E-876F02C4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719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Detected BH1750 0x23, VL53L0X 0x29, OLED 0x3C and BME280 0x76 together.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525EE6-8D16-4BBB-B53F-75773223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14900"/>
            <a:ext cx="781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DAY 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1CD652-DB00-47A0-96FD-9126BA6D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9585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Data Logger Quality 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778729-CB75-4F4E-AFD7-EE160B4C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101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Completed an end-to-end path from STM32 sensors to saved CSV data.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A03364-4402-4DA1-8427-B81F5DE0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882D4A-941C-4EBB-A02A-220B7C51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10-day Project Diary  |  Ahmed Mohamed Abdalla Ahmed  |  A24KE0429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2E7D85-2035-47D3-9584-DB5FD9A7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06674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865AC9-75A0-420A-AD57-6C167D6A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9C2DA-5A7B-4DF5-8917-F92BEC84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Day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5ED2B-7216-4A69-95D7-105002E0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"/>
            <a:ext cx="19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49DCA-C2E3-40F9-AB8C-2F9AF2EC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1000"/>
            <a:ext cx="950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Foundation and System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21B5B-71EC-4969-951D-9633CB4C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EE874-222F-490C-B823-87654019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FBE9E-AA97-4378-83B2-E91F68C4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240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CE610-38AE-4BE5-95DE-3FA6863A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Reviewed the NUCLEO-L476RG architecture, memory, clock and header pinout.</a:t>
            </a:r>
          </a:p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Installed STM32CubeIDE and STM32CubeMX, then verified the board with a Blink test.</a:t>
            </a:r>
          </a:p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Defined the system architecture and mapped the sensors, controls and indicators.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0F4A2-ADFC-46D1-B0D5-CA7D2239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Learning Sources and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F3D70-39D5-400B-9ECF-EE0A30A4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00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86189-BD0D-406B-9144-B9F8E8C4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5143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ST NUCLEO-L476RG documentation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STM32CubeIDE and STM32CubeMX getting-started guides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I2C addressing, voltage levels and pull-up fundamentals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C600E-1F1C-4EC4-9906-6B1D4AF0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Achievement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2BC8D-CAB7-4E0D-85C3-B43F5768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24025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F167A-5CF6-470A-A7D0-C543F2C8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Confirmed the MCU and development environment were working.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Completed an initial circuit and pin-assignment plan for the occupancy prototype.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4C9C8-17DF-43C0-B412-ACF4B4ED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Problem and Engineering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B74FD5-22BE-477D-B8CF-4466F283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38525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AED28C-FF41-4C40-828D-242A5D1B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5295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3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Verified shared-bus addressing and 3.3 V / 5 V compatibility before assembly.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2F1252-3C85-4335-A6A6-72E8D793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57750"/>
            <a:ext cx="5295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14288">
            <a:solidFill>
              <a:srgbClr val="009FB3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IMAGE / EVIDENCE PLACEHOLDER</a:t>
            </a:r>
          </a:p>
          <a:p xmlns:a="http://schemas.openxmlformats.org/drawingml/2006/main">
            <a:pPr algn="ctr">
              <a:defRPr sz="135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Insert the Blink test, NUCLEO board photo or circuit schematic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B04AF7-7868-4DAF-AAEB-503A39FD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5DAA9-327C-4DFF-AA9C-0DB93191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Day 1 of 10  |  Ahmed Mohamed Abdalla Ahmed  |  A24KE0429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B7184-0176-44B6-980E-FC495D9E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818175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9A3BB6-3678-4CF0-BAC6-C1A9B1E8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D05D1-A24B-4C67-8A3B-543839A9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Day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AA3CD-745F-447B-BB2A-BD142C5E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"/>
            <a:ext cx="19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4E157-1B3B-45ED-BCA9-02D7D5AA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1000"/>
            <a:ext cx="950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Component and I2C Planning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F56C0-280C-48EC-9CA9-DEA8D6F9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1CA1D-610B-4B85-A59F-DF2C0B3E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5D344-EA1B-4B38-B67D-A5272A5E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240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ACAAF-6B67-4809-84D6-6C64BE63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Ordered the required sensors and supporting components.</a:t>
            </a:r>
          </a:p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Studied the interfaces of BME280, BH1750, VL53L0X, PIR and SSD1306 OLED modules.</a:t>
            </a:r>
          </a:p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Planned one shared I2C bus and dedicated GPIO connections.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E11ED-6BC9-4D6E-88CB-3AF6F5EB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Learning Sources and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803D7-7F9B-4BF6-96B0-2E2967CE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00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DCF0F-0B9A-4E34-8E92-11F83685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5143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Sensor datasheets and module pinouts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I2C seven-bit addresses and HAL shifted addresses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Tutorials for individual sensor bring-up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739FD-E93A-40D4-8463-21E2A720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Achievement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E26CE-9B88-4133-A392-D5F85007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24025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4D775-6087-4452-82B3-8CE0097C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Completed the component list and identified the expected device addresses.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Used the delivery period to reduce integration risk before wiring the hardware.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A5C15-A007-4223-B7F2-E7C74427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Problem and Engineering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21C24-45A7-4A97-A3EF-69AB5C49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38525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B785D9-4BC8-40D2-A1AB-17FFDADB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5295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3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Components required several days to arrive, so software and protocol research continued in parallel.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9EA0D-CC49-4E04-9F9E-191EFF23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57750"/>
            <a:ext cx="5295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14288">
            <a:solidFill>
              <a:srgbClr val="009FB3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IMAGE / EVIDENCE PLACEHOLDER</a:t>
            </a:r>
          </a:p>
          <a:p xmlns:a="http://schemas.openxmlformats.org/drawingml/2006/main">
            <a:pPr algn="ctr">
              <a:defRPr sz="135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Insert the component list, order summary or final pin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5DB0B-F0B5-4585-8D4E-C201B24D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3D16D-D768-40E8-8B7B-7B7A8D86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Day 2 of 10  |  Ahmed Mohamed Abdalla Ahmed  |  A24KE0429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5E7BB2-91C5-4125-901C-EFA47303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839531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F78B43-3EB0-4D16-82D2-9946CA65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FB67B-E279-46B0-80E2-C00ED963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Day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B4746-246D-42F3-A833-3554F265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"/>
            <a:ext cx="19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3BC48-E529-4B15-BCC3-01D0692F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1000"/>
            <a:ext cx="950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STM32 AI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48B0C-8F03-4C1A-84DC-F4C0D83F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27890-FE85-44E7-88DA-71D1AB93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6B1E5-DFDE-4825-A93A-3435F7BE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240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48AB2-CEB6-40B0-9C83-8B94275A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Studied TinyML and the role of STM32Cube.AI / X-CUBE-AI.</a:t>
            </a:r>
          </a:p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Mapped the path from labelled sensor data to model training and embedded inference.</a:t>
            </a:r>
          </a:p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Explored model analysis, memory reporting and C code generation in STM32CubeMX.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539F6-3DD7-4FB3-8EC7-CD23CBC3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Learning Sources and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1E979-BCC3-4E66-84B3-0E94E297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00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0CD86-7920-4D42-8876-CF838A02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5143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STM32Cube.AI workflow and documentation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TensorFlow / Keras model training basics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MCU memory and computation constraints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CE5A8-FBFD-4E1C-81AA-769A9C67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Achievement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B470D-D82B-4EB6-B1D6-C21E8258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24025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DA1F3-3AA2-40CE-A599-8B2094DD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Understood that training occurs on the computer while inference runs on the STM32.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Defined a future workflow for converting the occupancy model into embedded C code.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28445-805E-4A53-80DD-5F2E376D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Problem and Engineering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7BC56-6212-4678-A6B1-BE91960D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38525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BF04A-6FFF-4306-88DD-3CC735AA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5295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3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The AI toolchain was new, so this day focused on terminology, model formats and deployment steps.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0C8BD2-FB66-4211-BC40-EAF6DEA4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57750"/>
            <a:ext cx="5295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14288">
            <a:solidFill>
              <a:srgbClr val="009FB3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IMAGE / EVIDENCE PLACEHOLDER</a:t>
            </a:r>
          </a:p>
          <a:p xmlns:a="http://schemas.openxmlformats.org/drawingml/2006/main">
            <a:pPr algn="ctr">
              <a:defRPr sz="135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Insert an X-CUBE-AI configuration or model-analysis screenshot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5CDBE1-93BA-4C7A-A8E7-93CD5D94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7C2EE4-7814-4B82-837F-2142B8AF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Day 3 of 10  |  Ahmed Mohamed Abdalla Ahmed  |  A24KE0429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FED707-6877-4FB6-B0EF-8D763AE8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936939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DEA2C1-26A6-4E89-A4DB-05B73953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DF8FD6-F15B-48A8-A3E6-6516566B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Day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09EEA-0249-4D8F-B7BB-8482BFEA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"/>
            <a:ext cx="19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5ADF7-C431-44B2-B6F8-8CC33B00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1000"/>
            <a:ext cx="950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MNIST Deployment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D861A-DD81-4161-BCCF-1E112B43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4F1C1-5B4E-4748-8B60-4FA6D789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9576C4-9EE9-4B99-8D60-DC81B6D0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240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B573F-F8DB-41C4-865F-BBF1C2ED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Followed a reference MNIST handwritten-digit CNN project for STM32.</a:t>
            </a:r>
          </a:p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Reviewed Keras training, .h5 import, X-CUBE-AI analysis and code generation.</a:t>
            </a:r>
          </a:p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Compared its NUCLEO-F411RE setup with the target NUCLEO-L476RG platform.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AF87A-1F33-4C0F-9B9F-F90D55F1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Learning Sources and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2AEF5-D893-42DE-AEC7-B7559CAC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00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3087B-6D77-4F79-98ED-3E1F7567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5143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Szu-Chi: Implement MNIST Classification on MCU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TensorFlow / Keras CNN workflow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Virtual COM Port testing on an MCU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CCFC2-20C3-490B-B011-42DD1FC2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Achievement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37726-D3BE-49E3-8565-C460121C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24025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F7B382-D7BC-47B8-BD13-31D945E2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Gained practical familiarity with the full PC-to-MCU inference workflow.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Used the project as a learning reference, not as the final occupancy model.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885DD-74BB-4BE9-BE49-BF60239C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Problem and Engineering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B6773-779A-49EE-8995-61590241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38525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65C14-37BD-46AC-B646-55C32B6C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5295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3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The reference used a different STM32 board and software versions, so direct reuse required adaptation.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64952-2EC6-4687-8F4A-EFF1AFE0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57750"/>
            <a:ext cx="5295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14288">
            <a:solidFill>
              <a:srgbClr val="009FB3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IMAGE / EVIDENCE PLACEHOLDER</a:t>
            </a:r>
          </a:p>
          <a:p xmlns:a="http://schemas.openxmlformats.org/drawingml/2006/main">
            <a:pPr algn="ctr">
              <a:defRPr sz="135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Insert the model graph, X-CUBE-AI Analyze page or test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08190-7DC1-4AD2-A95B-FDEB33E7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E1EC9F-C258-4045-867E-ECE2481B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Day 4 of 10  |  Ahmed Mohamed Abdalla Ahmed  |  A24KE0429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26F0FF-6BA5-4AC5-AB4E-E9BBE541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559113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3A910-E38C-4B49-89A9-7AD6DA80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1BD4A-32B7-47D1-A591-34E1C758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Day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1A8EA-1D39-4169-A6EC-0D1153AE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"/>
            <a:ext cx="19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42CA4-CD64-45F4-9F32-F08C399D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1000"/>
            <a:ext cx="950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Hardware Preparation and Soldering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941F2-76FB-43E6-A762-0063507A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DDD1C-C6B7-4979-8559-4EE761C8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7F59B-9B69-4CE8-9A34-951F8D1A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240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B1832-2C3F-4A1A-B30A-11D8AF83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Inspected the delivered modules and identified headers that required soldering.</a:t>
            </a:r>
          </a:p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Arranged soldering tools and assembled the sensor modules.</a:t>
            </a:r>
          </a:p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Checked pin labels, continuity, supply polarity and header joints.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9F398-335B-41D1-8F5E-C63E7882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Learning Sources and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DDB85-B586-4C36-9C11-4CFE5510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00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19C8F-5D89-4A38-AAFE-D6E492D2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5143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Through-hole soldering and continuity checks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Module power and signal-pin verification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Breadboard wiring practices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BEBB2-3F7D-4605-80DC-498893E3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Achievement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80856-3E1F-4005-909D-260C5806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24025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519DDC-C417-4C11-97A7-FE6F1D24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Prepared the physical modules for individual electrical testing.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Reworked weak joints that could create intermittent I2C communication.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EA34B-9900-48E1-AE3C-56D9B9AF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Problem and Engineering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46666B-9C14-4265-B07D-7287BD68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38525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FF4A4-85C6-4EAC-BC07-CE79E25C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5295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3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The modules were not ready to plug in immediately, which added soldering and inspection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743E5-4415-4E8B-AFCB-CAC11C5A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57750"/>
            <a:ext cx="5295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14288">
            <a:solidFill>
              <a:srgbClr val="009FB3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IMAGE / EVIDENCE PLACEHOLDER</a:t>
            </a:r>
          </a:p>
          <a:p xmlns:a="http://schemas.openxmlformats.org/drawingml/2006/main">
            <a:pPr algn="ctr">
              <a:defRPr sz="135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Insert a soldering photo or continuity-test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AB6CE4-1C47-41C4-8810-6D2B1167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3EC26-50D2-49AA-847E-36EA09A2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Day 5 of 10  |  Ahmed Mohamed Abdalla Ahmed  |  A24KE0429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9E5F3-951A-446F-9DF2-98291A70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963291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F385DC-4039-4562-8EAA-1DBF25CA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22FB6-3135-47AD-9A1A-33A4AF78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Day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EB773-5F13-47D1-B011-F0CFF934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"/>
            <a:ext cx="19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F63C8-4C90-4157-A5C3-BBD68B10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1000"/>
            <a:ext cx="950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Sensor Bring-Up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825B8-773A-4C37-945D-E893AC94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04C7A-06C7-4AC9-A35C-3C459987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16332-A5F3-4A69-AFB7-699E6BE6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240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A3D49-6DB2-4721-A4C1-EE7A960C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Tested the SSD1306 OLED and BME280 through I2C.</a:t>
            </a:r>
          </a:p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Verified UART output and used an I2C scanner to confirm device responses.</a:t>
            </a:r>
          </a:p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Tested PIR inputs, push buttons, LEDs and the active buzzer as GPIO devices.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43079-6EB8-49BC-BCC3-C10A68B3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Learning Sources and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93E76-CD32-49C4-B8A6-B9924695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00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FA268-24C6-4719-8209-6268DFF0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5143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STM32 HAL I2C and GPIO functions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Serial Monitor debugging at 115200 baud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Isolated testing before system integration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949C4-8337-475A-8C6A-38A440FB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Achievement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121FD-F90E-4D78-831A-7D88DDF6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24025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D181C-2D37-4403-9526-7EDBA136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Validated the basic drivers and confirmed live readings on the OLED and serial output.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Confirmed the active buzzer logic: PB4 LOW produces sound and HIGH is silent.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DB48C-BE75-41D2-9E07-8FB92618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Problem and Engineering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85157-FB12-4351-A8B8-85978FBD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38525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97D59-2DD8-44BF-9CF4-FE4B43E2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5295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3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Resolved several pin, port and power mistakes by testing one module at a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27E2B8-0F1F-4D37-9D14-6D8963B7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57750"/>
            <a:ext cx="5295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14288">
            <a:solidFill>
              <a:srgbClr val="009FB3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IMAGE / EVIDENCE PLACEHOLDER</a:t>
            </a:r>
          </a:p>
          <a:p xmlns:a="http://schemas.openxmlformats.org/drawingml/2006/main">
            <a:pPr algn="ctr">
              <a:defRPr sz="135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Insert the OLED readings, GPIO test or Serial Monitor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88777-08DE-4153-9304-272686DF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9DBF80-CE9E-486E-9872-1B4E950A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Day 6 of 10  |  Ahmed Mohamed Abdalla Ahmed  |  A24KE0429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085E5D-7EE3-4721-9A4B-032A26EF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545002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7BABBC-516F-4C8C-A894-B5517198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12466-ED3E-4E9F-BACD-FAFDDE2F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Day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A6F6C-03F5-43AF-A69F-524CBC6C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"/>
            <a:ext cx="19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41DBE-A3FC-4008-AE40-40245504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1000"/>
            <a:ext cx="950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BH1750 Fault Diagnosis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16843-D144-4303-BEC3-02C8B80F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DC371-1930-42A7-A5BF-E8B30C60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FBC59-B45A-42A4-B204-5534D4DE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240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CBFAE-CF69-40A2-BAED-A2788959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Scanned the expected BH1750 addresses 0x23 and 0x5C on STM32 and Arduino.</a:t>
            </a:r>
          </a:p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Checked 3.3 V supply, SDA/SCL idle levels, soldering and the ADDR connection.</a:t>
            </a:r>
          </a:p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Compared the module with known-good I2C devices and replacement BH1750 boards.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64C03-1086-4CA8-88B5-86AF80DB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Learning Sources and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78667-8010-495E-87D9-34314597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00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12B7E3-34D0-4CF2-A7F0-18A72917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5143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Cross-platform fault isolation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BH1750 raw-data to lux conversion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Separating wiring, software and hardware faults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585B4-5B0D-426B-A357-7D3C691C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Achievement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2B2B2-079D-4C28-9470-DFC1FEA3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24025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EDC0D-E43F-4174-A910-6E6932C9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Confirmed that the original GY-302 did not acknowledge on either controller.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Verified a replacement at 0x23 and obtained valid lux readings.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0288E-0F6F-4565-95D3-069240D9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Problem and Engineering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C1E1E-6339-4563-965A-DA930C2D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38525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A87372-05A2-4739-800C-B11D5312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5295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3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Diagnosed a faulty module only after eliminating code, wiring, address and soldering causes.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560FF8-64C7-472C-AA90-89B0FE5D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57750"/>
            <a:ext cx="5295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14288">
            <a:solidFill>
              <a:srgbClr val="009FB3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IMAGE / EVIDENCE PLACEHOLDER</a:t>
            </a:r>
          </a:p>
          <a:p xmlns:a="http://schemas.openxmlformats.org/drawingml/2006/main">
            <a:pPr algn="ctr">
              <a:defRPr sz="135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Insert the failed scan beside the replacement 0x23 / lux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6620D1-7F5A-48E5-B8FF-F5BA9791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32970B-00D5-4B55-9BFC-B5757387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Day 7 of 10  |  Ahmed Mohamed Abdalla Ahmed  |  A24KE0429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1989A3-BB37-4CD6-85E5-5E121DCB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355780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6319B6-4CC1-4B05-8D30-B374A410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BBBBF-E24F-495D-BA6A-2A328DB2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Day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7E17F-05BB-4F12-AC3E-BADC7CFE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"/>
            <a:ext cx="19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1C055-AB5D-4AAF-A97B-69A93148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1000"/>
            <a:ext cx="950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VL53L0X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02C72-EA6C-4953-B8A4-35DB6754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68F93-0F90-4293-A61F-E8E8D784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F23F8-D31A-40D7-AD4A-11A6C675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240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B49AB-0BBB-4B0F-9E73-BCE68ADD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Integrated the ST VL53L0X API and STM32 HAL platform layer.</a:t>
            </a:r>
          </a:p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Removed Windows-only communication files and corrected build errors.</a:t>
            </a:r>
          </a:p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Logged distance, range status, signal rate and ambient rate.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8555E-B1B3-4990-9661-99ACF74D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Learning Sources and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387B8-53CE-4B6D-AC61-AC1AD521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00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685BA-60ED-434B-ABDE-096D8A1E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5143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VL53L0X API initialization and calibration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RangeStatus interpretation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Embedded build-error diagnosis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BFD26-ACA9-491E-93B9-705B4CA8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Achievement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03C676-BB5F-4782-8CD5-7900FB41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24025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D8E3B-BB75-403F-8D6F-81D187BD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Obtained stable Status 0 measurements for close targets.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Displayed live distance data on the OLED and Serial Monitor.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DC25B-649B-4F93-9D7A-673FD1E0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Problem and Engineering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78E5CF-EE8F-48A8-B4D2-42656DEB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38525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92322-4D87-4FE7-9B00-DD64F434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5295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3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Observed 8190 mm / Status 4 when the target was outside the practical range or narrow field of 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7D1BE6-8FCD-40D0-8422-69C47025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57750"/>
            <a:ext cx="5295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14288">
            <a:solidFill>
              <a:srgbClr val="009FB3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IMAGE / EVIDENCE PLACEHOLDER</a:t>
            </a:r>
          </a:p>
          <a:p xmlns:a="http://schemas.openxmlformats.org/drawingml/2006/main">
            <a:pPr algn="ctr">
              <a:defRPr sz="135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Insert a valid distance test and an 8190 mm / Status 4 example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F4B7A-64D0-4D7D-92A2-DB403A87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8144AE-7A15-4CCD-972D-A73EA5D5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Day 8 of 10  |  Ahmed Mohamed Abdalla Ahmed  |  A24KE0429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906676-9C57-4565-983A-92D2A60B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724045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3C57B7-B0C8-419F-B2AF-3DBBFED1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E76A9-1D32-4F59-AADA-A4278782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Day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82907-60FD-433E-A750-869321D3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"/>
            <a:ext cx="19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418CC-6B35-4592-9300-568BD99A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1000"/>
            <a:ext cx="950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Full Hardware Integration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ED69A-DAA0-4916-9C35-6E8AD78E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348FE-A746-4DAF-AC98-BE9E9D03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80F83-E9EE-47FA-8EB9-717ABD45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240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944CC-FFE6-408A-BDD8-64B3847D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Connected four I2C devices on the same bus and verified their addresses.</a:t>
            </a:r>
          </a:p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Integrated two PIR sensors, two buttons, two LEDs and the active buzzer.</a:t>
            </a:r>
          </a:p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Added EMPTY, LOW and HIGH labels with button and LED feedback.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7D43C-A0CB-4AA2-B6C0-5469B81F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Learning Sources and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DE513-8E7B-4EDE-88B5-FC5D3776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00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06545-4DAA-4A4C-A413-1A331B1D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5143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Multi-device I2C integration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Button debounce and non-blocking buzzer control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System-level power and wiring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49D4F-4BD3-4488-8A35-E5084A60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Achievement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72651-CC5B-499B-9FCF-2B46AE74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24025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2FB66-FE1B-4C34-9875-D5104013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Detected BH1750 0x23, VL53L0X 0x29, OLED 0x3C and BME280 0x76 together.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Ran all sensors and user controls in one STM32 application.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602A4-88D5-4D2D-B091-7671B21C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Problem and Engineering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B180E-76FD-4EF1-A32E-543C4032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38525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F31988-8B81-45E7-B2E0-2F4515C0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5295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3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A weak supply/wiring connection initially hid the BME280, then a corrected connection restored the full bus.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3C4080-44A4-40D0-BCB1-25615AD1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57750"/>
            <a:ext cx="5295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14288">
            <a:solidFill>
              <a:srgbClr val="009FB3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IMAGE / EVIDENCE PLACEHOLDER</a:t>
            </a:r>
          </a:p>
          <a:p xmlns:a="http://schemas.openxmlformats.org/drawingml/2006/main">
            <a:pPr algn="ctr">
              <a:defRPr sz="135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Insert the assembled prototype or four-device I2C scan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7588B-C1E3-47CA-BBDE-5AEE3C1F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3CCFA0-E52D-4B56-90FB-44DCC71B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Day 9 of 10  |  Ahmed Mohamed Abdalla Ahmed  |  A24KE0429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6518C-DF2B-4525-805D-1546A83C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537577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65C3A1-508E-4E86-A38F-AA36512C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08C8B-D863-4BC6-94F3-518A0021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Day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6F215-6C25-4793-BE02-8826EE52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"/>
            <a:ext cx="19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CE282-BFD2-446B-BFC7-8DBC65B4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1000"/>
            <a:ext cx="950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Data Logger Quality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57A10-285B-4CA8-B4DA-2C1432A7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C9D57-07BA-47DF-B149-9645C598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ED407-09AB-4B61-A943-534AB69F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240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BDAAA-0023-4252-9924-D1D92AE5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Built a serial CSV logger with labelled EMPTY, LOW and HIGH sessions.</a:t>
            </a:r>
          </a:p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Used physical controls to select labels and start or stop recording.</a:t>
            </a:r>
          </a:p>
          <a:p xmlns:a="http://schemas.openxmlformats.org/drawingml/2006/main">
            <a:pPr marL="215900" indent="-114300">
              <a:spcAft>
                <a:spcPts val="4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Ran a 206-row pilot and applied data-quality checks.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6AD7C-A13C-4B0F-BCC2-8AD5C269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Learning Sources and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DE5B6-F35D-49A5-8B8A-D1930132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00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A6A65-22FB-4508-86B6-3C898482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5143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Structured data collection and session labelling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Raw-data preservation and validation flags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46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5E646B"/>
                </a:solidFill>
                <a:latin typeface="Arial"/>
                <a:ea typeface="Arial"/>
                <a:cs typeface="Arial"/>
              </a:rPr>
              <a:t>Sensor suitability assessment before AI training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1B215-D8F4-466D-98E5-1AD9063D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Achievement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B0B2B-2E6F-4131-9595-7867F71E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24025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97A70-BBB2-4A05-BA72-50065CC8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2959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Completed an end-to-end path from STM32 sensors to saved CSV data.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The first review accepted 44 rows and rejected 162, mainly because of invalid ToF measurements.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99DEC-9263-4BA9-B1BF-670BACBD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529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Problem and Engineering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ED2A87-3542-4B98-9B6B-CF266A5E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38525"/>
            <a:ext cx="5295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E01897-EDAA-4479-B8CA-16DDC12E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52959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300"/>
              </a:spcAft>
              <a:buChar char="•"/>
              <a:defRPr sz="1463">
                <a:solidFill>
                  <a:srgbClr val="A85A00"/>
                </a:solidFill>
                <a:latin typeface="Arial"/>
                <a:ea typeface="Arial"/>
                <a:cs typeface="Arial"/>
              </a:defRPr>
            </a:pPr>
            <a:r>
              <a:rPr sz="1463">
                <a:solidFill>
                  <a:srgbClr val="A85A00"/>
                </a:solidFill>
                <a:latin typeface="Arial"/>
                <a:ea typeface="Arial"/>
                <a:cs typeface="Arial"/>
              </a:rPr>
              <a:t>PIR reports motion rather than continuous presence, while the current VL53L0X range and field of view do not cover a ceiling-mounted room setup.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DB301B-A64E-4466-82FA-CF38B7BC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57750"/>
            <a:ext cx="5295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14288">
            <a:solidFill>
              <a:srgbClr val="009FB3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IMAGE / EVIDENCE PLACEHOLDER</a:t>
            </a:r>
          </a:p>
          <a:p xmlns:a="http://schemas.openxmlformats.org/drawingml/2006/main">
            <a:pPr algn="ctr">
              <a:defRPr sz="135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Insert the CSV file, pilot summary or sensor-validity chart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D25DB8-483C-441D-92C1-705017F9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08C80-8980-4E2F-A8E7-318AED8A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Day 10 of 10  |  Ahmed Mohamed Abdalla Ahmed  |  A24KE0429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EA3CC3-1B31-42D7-9FA2-48840407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981152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1DF79-11D2-44B5-8BFB-70036891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6DCAA-FD61-4CB2-B28A-F10CA97C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Final Achievement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C4539-818F-4E65-9187-9C380703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A working integrated prototype with an evidence-based plan for the next iteration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D0D25-83D4-4338-8F8F-13A7CF6D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BCD0E-E4A4-4C15-AEE4-481B4CE9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05463-7D85-4E2C-87AB-724231CB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38325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F14E7-ABEC-47E1-9C4E-E2070FC7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5334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61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613">
                <a:solidFill>
                  <a:srgbClr val="5E646B"/>
                </a:solidFill>
                <a:latin typeface="Arial"/>
                <a:ea typeface="Arial"/>
                <a:cs typeface="Arial"/>
              </a:rPr>
              <a:t>Brought up the NUCLEO-L476RG and implemented the required I2C and GPIO drivers.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61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613">
                <a:solidFill>
                  <a:srgbClr val="5E646B"/>
                </a:solidFill>
                <a:latin typeface="Arial"/>
                <a:ea typeface="Arial"/>
                <a:cs typeface="Arial"/>
              </a:rPr>
              <a:t>Integrated environmental, light, distance and motion sensing with OLED feedback.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613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613">
                <a:solidFill>
                  <a:srgbClr val="5E646B"/>
                </a:solidFill>
                <a:latin typeface="Arial"/>
                <a:ea typeface="Arial"/>
                <a:cs typeface="Arial"/>
              </a:rPr>
              <a:t>Built labelled session controls and a PC logger that saves structured CSV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EA38A-7EE9-448A-84ED-569F741F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Validated by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C4600-70A7-4C63-AA8F-B8EA0C80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00525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E6F8A-E111-4611-95BD-17CFAB21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5334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Four devices detected on one I2C bus.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Live values displayed and transmitted at 115200 baud.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A 206-row pilot exposed data-quality limits before model training.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104F4-2D33-4615-AE2B-4C7A6279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2197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14288">
            <a:solidFill>
              <a:srgbClr val="009FB3"/>
            </a:solidFill>
          </a:ln>
        </p:spPr>
        <p:txBody>
          <a:bodyPr xmlns:a="http://schemas.openxmlformats.org/drawingml/2006/main" wrap="square" lIns="152400" tIns="95250" rIns="15240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7C8C"/>
                </a:solidFill>
                <a:latin typeface="Arial"/>
                <a:ea typeface="Arial"/>
                <a:cs typeface="Arial"/>
              </a:rPr>
              <a:t>IMAGE / EVIDENCE PLACEHOLDER</a:t>
            </a:r>
          </a:p>
          <a:p xmlns:a="http://schemas.openxmlformats.org/drawingml/2006/main">
            <a:pPr algn="ctr">
              <a:defRPr sz="1350" b="1" i="0">
                <a:solidFill>
                  <a:srgbClr val="007C8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Insert the final prototype photo or system block diagram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41614-5CD0-4EB7-A09F-D592D158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43375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1" i="0">
                <a:solidFill>
                  <a:srgbClr val="16191D"/>
                </a:solidFill>
                <a:latin typeface="Arial"/>
                <a:ea typeface="Arial"/>
                <a:cs typeface="Arial"/>
              </a:defRPr>
            </a:pPr>
            <a:r>
              <a:rPr sz="1538" b="1" i="0">
                <a:solidFill>
                  <a:srgbClr val="16191D"/>
                </a:solidFill>
                <a:latin typeface="Arial"/>
                <a:ea typeface="Arial"/>
                <a:cs typeface="Arial"/>
              </a:rPr>
              <a:t>Next Stage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591C7-0FA1-4495-A7E5-FC79E172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5219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B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4E1F8-16CC-4AE1-8699-C102C225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5219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38100" bIns="0">
            <a:noAutofit/>
          </a:bodyPr>
          <a:lstStyle xmlns:a="http://schemas.openxmlformats.org/drawingml/2006/main"/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Calibrate and reposition the two PIR modules, then add a motion-window feature in firmware.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Use VL53L0X only for a close fixed zone, or evaluate a multizone ToF sensor for ceiling coverage.</a:t>
            </a:r>
          </a:p>
          <a:p xmlns:a="http://schemas.openxmlformats.org/drawingml/2006/main">
            <a:pPr marL="215900" indent="-114300">
              <a:spcAft>
                <a:spcPts val="500"/>
              </a:spcAft>
              <a:buChar char="•"/>
              <a:defRPr sz="1538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538">
                <a:solidFill>
                  <a:srgbClr val="5E646B"/>
                </a:solidFill>
                <a:latin typeface="Arial"/>
                <a:ea typeface="Arial"/>
                <a:cs typeface="Arial"/>
              </a:rPr>
              <a:t>Repeat the pilot, collect balanced sessions, train the occupancy model and deploy it with STM32Cube.AI.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C7D8E-54C1-4846-8EBC-6D26EA5E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9FC83-5DAB-47AB-944F-5844AA1D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Project status  |  Ahmed Mohamed Abdalla Ahmed  |  A24KE0429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7B909-2D29-4B83-AAF9-D042D40B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13" b="0" i="0">
                <a:solidFill>
                  <a:srgbClr val="5E646B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5E64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809814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2026-09-10T07:59:40.0230000Z</dcterms:created>
  <dcterms:modified xsi:type="dcterms:W3CDTF">2026-09-10T07:59:40.0230000Z</dcterms:modified>
</coreProperties>
</file>